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84" r:id="rId25"/>
    <p:sldId id="285" r:id="rId26"/>
    <p:sldId id="286" r:id="rId27"/>
    <p:sldId id="279" r:id="rId28"/>
    <p:sldId id="280" r:id="rId29"/>
    <p:sldId id="281" r:id="rId30"/>
    <p:sldId id="282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00" r:id="rId44"/>
    <p:sldId id="301" r:id="rId45"/>
    <p:sldId id="302" r:id="rId46"/>
    <p:sldId id="303" r:id="rId47"/>
    <p:sldId id="267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77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41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8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5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49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07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30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6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52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2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8FAE6-9D8E-472A-93A9-297F03799E72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90DE6-9E3C-49C4-9EE5-A8391CE81A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9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Role-Based Development</a:t>
            </a:r>
            <a:r>
              <a:rPr lang="en-IN" b="1" dirty="0" smtClean="0">
                <a:solidFill>
                  <a:srgbClr val="FF0000"/>
                </a:solidFill>
              </a:rPr>
              <a:t/>
            </a:r>
            <a:br>
              <a:rPr lang="en-IN" b="1" dirty="0" smtClean="0">
                <a:solidFill>
                  <a:srgbClr val="FF0000"/>
                </a:solidFill>
              </a:rPr>
            </a:br>
            <a:r>
              <a:rPr lang="en-IN" b="1" dirty="0" smtClean="0">
                <a:solidFill>
                  <a:srgbClr val="FF0000"/>
                </a:solidFill>
              </a:rPr>
              <a:t>BA → Developer → Tester Flow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How BA → Developer → QA flow works with Copilot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9381"/>
            <a:ext cx="8229600" cy="4525963"/>
          </a:xfrm>
        </p:spPr>
        <p:txBody>
          <a:bodyPr/>
          <a:lstStyle/>
          <a:p>
            <a:r>
              <a:rPr lang="en-US" dirty="0" smtClean="0"/>
              <a:t>BA generates User Story (using Copilot)</a:t>
            </a:r>
          </a:p>
          <a:p>
            <a:r>
              <a:rPr lang="en-US" dirty="0" smtClean="0"/>
              <a:t>Developer consumes this User Story</a:t>
            </a:r>
          </a:p>
          <a:p>
            <a:r>
              <a:rPr lang="en-US" dirty="0" smtClean="0"/>
              <a:t>Testers Generate Test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81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Note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Copilot does NOT automatically convert a user story into full source code end-to-end.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There is always a </a:t>
            </a:r>
            <a:r>
              <a:rPr lang="en-US" b="1" dirty="0" smtClean="0"/>
              <a:t>human-in-the-loop step</a:t>
            </a:r>
            <a:r>
              <a:rPr lang="en-US" dirty="0" smtClean="0"/>
              <a:t>, but the workflow can be made very fast and semi-automated.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90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BA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00B050"/>
                </a:solidFill>
              </a:rPr>
              <a:t>Example prompt:</a:t>
            </a:r>
            <a:endParaRPr lang="en-US" dirty="0" smtClean="0"/>
          </a:p>
          <a:p>
            <a:r>
              <a:rPr lang="en-US" dirty="0" smtClean="0"/>
              <a:t>“</a:t>
            </a:r>
            <a:r>
              <a:rPr lang="en-US" b="1" dirty="0" smtClean="0"/>
              <a:t>As a customer</a:t>
            </a:r>
            <a:r>
              <a:rPr lang="en-US" dirty="0" smtClean="0"/>
              <a:t>, </a:t>
            </a:r>
            <a:r>
              <a:rPr lang="en-US" b="1" dirty="0" smtClean="0"/>
              <a:t>I want </a:t>
            </a:r>
            <a:r>
              <a:rPr lang="en-US" dirty="0" smtClean="0"/>
              <a:t>to apply for a loan </a:t>
            </a:r>
            <a:r>
              <a:rPr lang="en-US" b="1" dirty="0" smtClean="0"/>
              <a:t>so that</a:t>
            </a:r>
            <a:r>
              <a:rPr lang="en-US" dirty="0" smtClean="0"/>
              <a:t> I can get financial assistance.”</a:t>
            </a:r>
          </a:p>
          <a:p>
            <a:pPr marL="0" indent="0">
              <a:buNone/>
            </a:pPr>
            <a:r>
              <a:rPr lang="en-US" dirty="0" smtClean="0"/>
              <a:t>Plus:</a:t>
            </a:r>
          </a:p>
          <a:p>
            <a:r>
              <a:rPr lang="en-US" dirty="0" smtClean="0"/>
              <a:t>Acceptance criteria </a:t>
            </a:r>
          </a:p>
          <a:p>
            <a:r>
              <a:rPr lang="en-US" dirty="0" smtClean="0"/>
              <a:t>Business rules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11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1. Manual Prompting (Most Common):</a:t>
            </a:r>
            <a:r>
              <a:rPr lang="en-US" dirty="0" smtClean="0"/>
              <a:t> This is </a:t>
            </a:r>
            <a:r>
              <a:rPr lang="en-US" b="1" dirty="0" smtClean="0"/>
              <a:t>today’s most widely used approach</a:t>
            </a:r>
            <a:endParaRPr lang="en-IN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 smtClean="0"/>
              <a:t>Developer reads the user story and writes a structured prompt.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i="1" dirty="0" smtClean="0">
                <a:solidFill>
                  <a:srgbClr val="00B050"/>
                </a:solidFill>
              </a:rPr>
              <a:t>Example prompt:</a:t>
            </a:r>
          </a:p>
          <a:p>
            <a:pPr marL="0" indent="0">
              <a:buNone/>
            </a:pPr>
            <a:r>
              <a:rPr lang="en-US" dirty="0" smtClean="0"/>
              <a:t>User Story:</a:t>
            </a:r>
          </a:p>
          <a:p>
            <a:r>
              <a:rPr lang="en-US" dirty="0" smtClean="0"/>
              <a:t>As a customer, I want to apply for a loan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Acceptance Criteria:</a:t>
            </a:r>
          </a:p>
          <a:p>
            <a:r>
              <a:rPr lang="en-US" dirty="0" smtClean="0"/>
              <a:t>- User can submit loan application</a:t>
            </a:r>
          </a:p>
          <a:p>
            <a:r>
              <a:rPr lang="en-US" dirty="0" smtClean="0"/>
              <a:t>- Validate income</a:t>
            </a:r>
          </a:p>
          <a:p>
            <a:r>
              <a:rPr lang="en-US" dirty="0" smtClean="0"/>
              <a:t>- Store in database</a:t>
            </a:r>
          </a:p>
          <a:p>
            <a:endParaRPr lang="en-US" dirty="0" smtClean="0"/>
          </a:p>
          <a:p>
            <a:r>
              <a:rPr lang="en-US" b="1" dirty="0" smtClean="0"/>
              <a:t>Generate ASP.NET Core Web API controller, service, and model for this.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07315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</a:rPr>
              <a:t>2. Copy-Paste User Story → Direct Prompt (Faster)</a:t>
            </a:r>
          </a:p>
          <a:p>
            <a:pPr marL="0" indent="0">
              <a:buNone/>
            </a:pPr>
            <a:r>
              <a:rPr lang="en-US" dirty="0" smtClean="0"/>
              <a:t>Instead of rewriting, dev pastes user story directly:</a:t>
            </a:r>
          </a:p>
          <a:p>
            <a:pPr marL="0" indent="0">
              <a:buNone/>
            </a:pPr>
            <a:r>
              <a:rPr lang="en-US" b="1" i="1" dirty="0" smtClean="0">
                <a:solidFill>
                  <a:srgbClr val="0070C0"/>
                </a:solidFill>
              </a:rPr>
              <a:t>Convert this user story into ASP.NET Core Web API code with clean architecture:</a:t>
            </a:r>
          </a:p>
          <a:p>
            <a:pPr marL="0" indent="0">
              <a:buNone/>
            </a:pPr>
            <a:endParaRPr lang="en-US" b="1" i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i="1" dirty="0" smtClean="0">
                <a:solidFill>
                  <a:srgbClr val="0070C0"/>
                </a:solidFill>
              </a:rPr>
              <a:t>[PASTE USER STORY HERE]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2600" dirty="0" smtClean="0">
                <a:solidFill>
                  <a:srgbClr val="7030A0"/>
                </a:solidFill>
              </a:rPr>
              <a:t>✔</a:t>
            </a:r>
            <a:r>
              <a:rPr lang="en-US" sz="2600" dirty="0" smtClean="0"/>
              <a:t> Faster, less thinking</a:t>
            </a:r>
            <a:br>
              <a:rPr lang="en-US" sz="2600" dirty="0" smtClean="0"/>
            </a:br>
            <a:r>
              <a:rPr lang="en-US" sz="2600" dirty="0" smtClean="0">
                <a:solidFill>
                  <a:srgbClr val="FF0000"/>
                </a:solidFill>
              </a:rPr>
              <a:t>❗</a:t>
            </a:r>
            <a:r>
              <a:rPr lang="en-US" sz="2600" dirty="0" smtClean="0"/>
              <a:t> Quality depends on how clear the story 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24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Developer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 smtClean="0">
                <a:solidFill>
                  <a:srgbClr val="002060"/>
                </a:solidFill>
              </a:rPr>
              <a:t>3. Agent-Based / Chat Mode (Modern </a:t>
            </a:r>
            <a:r>
              <a:rPr lang="en-IN" b="1" dirty="0" err="1" smtClean="0">
                <a:solidFill>
                  <a:srgbClr val="002060"/>
                </a:solidFill>
              </a:rPr>
              <a:t>Copilot</a:t>
            </a:r>
            <a:r>
              <a:rPr lang="en-IN" b="1" dirty="0" smtClean="0">
                <a:solidFill>
                  <a:srgbClr val="002060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 smtClean="0"/>
              <a:t>Using </a:t>
            </a:r>
            <a:r>
              <a:rPr lang="en-IN" dirty="0" err="1" smtClean="0"/>
              <a:t>Copilot</a:t>
            </a:r>
            <a:r>
              <a:rPr lang="en-IN" dirty="0" smtClean="0"/>
              <a:t> Chat / Agent mode:</a:t>
            </a:r>
          </a:p>
          <a:p>
            <a:pPr marL="0" indent="0">
              <a:buNone/>
            </a:pPr>
            <a:r>
              <a:rPr lang="en-IN" b="1" dirty="0" smtClean="0"/>
              <a:t>Developer says:</a:t>
            </a:r>
          </a:p>
          <a:p>
            <a:pPr marL="0" indent="0">
              <a:buNone/>
            </a:pPr>
            <a:r>
              <a:rPr lang="en-IN" dirty="0" smtClean="0"/>
              <a:t>	“Generate backend API for this user story”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Paste story → </a:t>
            </a:r>
            <a:r>
              <a:rPr lang="en-IN" b="1" dirty="0" err="1" smtClean="0"/>
              <a:t>Copilot</a:t>
            </a:r>
            <a:r>
              <a:rPr lang="en-IN" b="1" dirty="0" smtClean="0"/>
              <a:t>:</a:t>
            </a:r>
          </a:p>
          <a:p>
            <a:r>
              <a:rPr lang="en-IN" dirty="0" smtClean="0"/>
              <a:t>Breaks into tasks </a:t>
            </a:r>
          </a:p>
          <a:p>
            <a:r>
              <a:rPr lang="en-IN" dirty="0" smtClean="0"/>
              <a:t>Generates multiple files </a:t>
            </a:r>
          </a:p>
          <a:p>
            <a:r>
              <a:rPr lang="en-IN" dirty="0" smtClean="0"/>
              <a:t>Suggests folder structure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This feels closer to “automatic conversion”</a:t>
            </a:r>
            <a:br>
              <a:rPr lang="en-IN" dirty="0" smtClean="0"/>
            </a:br>
            <a:r>
              <a:rPr lang="en-IN" dirty="0" smtClean="0"/>
              <a:t>BUT still:</a:t>
            </a:r>
          </a:p>
          <a:p>
            <a:r>
              <a:rPr lang="en-IN" dirty="0" smtClean="0"/>
              <a:t>Needs review </a:t>
            </a:r>
          </a:p>
          <a:p>
            <a:r>
              <a:rPr lang="en-IN" dirty="0" smtClean="0"/>
              <a:t>Needs refinement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20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Best Practice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Convert User Story → Technical Prompt</a:t>
            </a:r>
          </a:p>
          <a:p>
            <a:r>
              <a:rPr lang="en-US" dirty="0" smtClean="0"/>
              <a:t>Developers should enrich the story:</a:t>
            </a:r>
          </a:p>
          <a:p>
            <a:pPr marL="400050" lvl="1" indent="0">
              <a:buNone/>
            </a:pPr>
            <a:r>
              <a:rPr lang="en-US" b="1" dirty="0" smtClean="0"/>
              <a:t>Step 1: Extract technical details</a:t>
            </a:r>
          </a:p>
          <a:p>
            <a:pPr lvl="1"/>
            <a:r>
              <a:rPr lang="en-US" dirty="0" smtClean="0"/>
              <a:t>API type (REST) </a:t>
            </a:r>
          </a:p>
          <a:p>
            <a:pPr lvl="1"/>
            <a:r>
              <a:rPr lang="en-US" dirty="0" smtClean="0"/>
              <a:t>DB (SQL Server) </a:t>
            </a:r>
          </a:p>
          <a:p>
            <a:pPr lvl="1"/>
            <a:r>
              <a:rPr lang="en-US" dirty="0" smtClean="0"/>
              <a:t>Architecture (Clean / Layered) </a:t>
            </a:r>
          </a:p>
          <a:p>
            <a:pPr marL="400050" lvl="1" indent="0">
              <a:buNone/>
            </a:pPr>
            <a:r>
              <a:rPr lang="en-US" b="1" dirty="0" smtClean="0"/>
              <a:t>Step 2: Give structured prompt</a:t>
            </a:r>
          </a:p>
          <a:p>
            <a:pPr marL="400050" lvl="1" indent="0">
              <a:buNone/>
            </a:pPr>
            <a:r>
              <a:rPr lang="en-US" dirty="0" smtClean="0"/>
              <a:t>Create a .NET 8 Web API for Loan Application.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Requirements:</a:t>
            </a:r>
            <a:br>
              <a:rPr lang="en-US" dirty="0" smtClean="0"/>
            </a:br>
            <a:r>
              <a:rPr lang="en-US" dirty="0" smtClean="0"/>
              <a:t>- Endpoint: POST /loan/apply</a:t>
            </a:r>
            <a:br>
              <a:rPr lang="en-US" dirty="0" smtClean="0"/>
            </a:br>
            <a:r>
              <a:rPr lang="en-US" dirty="0" smtClean="0"/>
              <a:t>- Input: </a:t>
            </a:r>
            <a:r>
              <a:rPr lang="en-US" dirty="0" err="1" smtClean="0"/>
              <a:t>customerId</a:t>
            </a:r>
            <a:r>
              <a:rPr lang="en-US" dirty="0" smtClean="0"/>
              <a:t>, income, </a:t>
            </a:r>
            <a:r>
              <a:rPr lang="en-US" dirty="0" err="1" smtClean="0"/>
              <a:t>loanAmount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Validate income &gt; 20000</a:t>
            </a:r>
            <a:br>
              <a:rPr lang="en-US" dirty="0" smtClean="0"/>
            </a:br>
            <a:r>
              <a:rPr lang="en-US" dirty="0" smtClean="0"/>
              <a:t>- Save to SQL Server using EF Core</a:t>
            </a:r>
            <a:br>
              <a:rPr lang="en-US" dirty="0" smtClean="0"/>
            </a:br>
            <a:r>
              <a:rPr lang="en-US" dirty="0" smtClean="0"/>
              <a:t>- Use clean architecture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👉 This gives </a:t>
            </a:r>
            <a:r>
              <a:rPr lang="en-US" b="1" dirty="0" smtClean="0"/>
              <a:t>much better output than raw user story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11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</a:rPr>
              <a:t>Comparison:</a:t>
            </a:r>
          </a:p>
          <a:p>
            <a:pPr marL="0" indent="0">
              <a:buNone/>
            </a:pPr>
            <a:r>
              <a:rPr lang="en-US" sz="2800" b="1" dirty="0" smtClean="0"/>
              <a:t>❌ Raw User Story Prompt</a:t>
            </a:r>
          </a:p>
          <a:p>
            <a:pPr lvl="1"/>
            <a:r>
              <a:rPr lang="en-US" dirty="0" smtClean="0"/>
              <a:t>Average code</a:t>
            </a:r>
          </a:p>
          <a:p>
            <a:pPr marL="0" indent="0">
              <a:buNone/>
            </a:pPr>
            <a:r>
              <a:rPr lang="en-US" sz="2800" b="1" dirty="0" smtClean="0"/>
              <a:t>✅ Structured Technical Prompt</a:t>
            </a:r>
          </a:p>
          <a:p>
            <a:pPr lvl="1"/>
            <a:r>
              <a:rPr lang="en-US" dirty="0" smtClean="0"/>
              <a:t>Production-like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30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(End-to-End Automation Style)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You can simulate automation like this:</a:t>
            </a:r>
          </a:p>
          <a:p>
            <a:r>
              <a:rPr lang="en-IN" b="1" dirty="0" smtClean="0"/>
              <a:t>BA</a:t>
            </a:r>
            <a:r>
              <a:rPr lang="en-IN" dirty="0" smtClean="0"/>
              <a:t> → generates story </a:t>
            </a:r>
          </a:p>
          <a:p>
            <a:r>
              <a:rPr lang="en-IN" b="1" dirty="0" smtClean="0"/>
              <a:t>Dev</a:t>
            </a:r>
            <a:r>
              <a:rPr lang="en-IN" dirty="0" smtClean="0"/>
              <a:t> → pastes into </a:t>
            </a:r>
            <a:r>
              <a:rPr lang="en-IN" dirty="0" err="1" smtClean="0"/>
              <a:t>Copilot</a:t>
            </a:r>
            <a:r>
              <a:rPr lang="en-IN" dirty="0" smtClean="0"/>
              <a:t> Chat </a:t>
            </a:r>
          </a:p>
          <a:p>
            <a:r>
              <a:rPr lang="en-IN" dirty="0" smtClean="0"/>
              <a:t>Ask: </a:t>
            </a:r>
          </a:p>
          <a:p>
            <a:pPr lvl="1"/>
            <a:r>
              <a:rPr lang="en-IN" dirty="0" smtClean="0"/>
              <a:t>“Break this into API tasks” </a:t>
            </a:r>
          </a:p>
          <a:p>
            <a:pPr lvl="1"/>
            <a:r>
              <a:rPr lang="en-IN" dirty="0" smtClean="0"/>
              <a:t>“Generate models” </a:t>
            </a:r>
          </a:p>
          <a:p>
            <a:pPr lvl="1"/>
            <a:r>
              <a:rPr lang="en-IN" dirty="0" smtClean="0"/>
              <a:t>“Generate controller” </a:t>
            </a:r>
          </a:p>
          <a:p>
            <a:r>
              <a:rPr lang="en-IN" dirty="0" smtClean="0"/>
              <a:t>Iteratively build system </a:t>
            </a:r>
          </a:p>
          <a:p>
            <a:pPr marL="0" indent="0">
              <a:buNone/>
            </a:pPr>
            <a:r>
              <a:rPr lang="en-IN" dirty="0" smtClean="0"/>
              <a:t>This mimics real SDLC with 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347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Final Answer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 story is </a:t>
            </a:r>
            <a:r>
              <a:rPr lang="en-US" b="1" dirty="0" smtClean="0"/>
              <a:t>NOT auto-converted into code automatically</a:t>
            </a:r>
            <a:endParaRPr lang="en-US" dirty="0"/>
          </a:p>
          <a:p>
            <a:r>
              <a:rPr lang="en-US" dirty="0" smtClean="0"/>
              <a:t>But with Copilot Chat/Agent → it feels semi-automatic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279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FINAL STATEMENT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“Copilot does not replace Business Analysts, Developers, or Testers…</a:t>
            </a:r>
            <a:br>
              <a:rPr lang="en-US" dirty="0" smtClean="0"/>
            </a:br>
            <a:r>
              <a:rPr lang="en-US" dirty="0" smtClean="0"/>
              <a:t>It </a:t>
            </a:r>
            <a:r>
              <a:rPr lang="en-US" b="1" dirty="0" smtClean="0"/>
              <a:t>amplifies each role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The real skill is not coding anymore —</a:t>
            </a:r>
            <a:br>
              <a:rPr lang="en-US" dirty="0" smtClean="0"/>
            </a:br>
            <a:r>
              <a:rPr lang="en-US" dirty="0" smtClean="0"/>
              <a:t>it is </a:t>
            </a:r>
            <a:r>
              <a:rPr lang="en-US" b="1" dirty="0" smtClean="0"/>
              <a:t>thinking clearly and prompting correctly</a:t>
            </a:r>
            <a:r>
              <a:rPr lang="en-US" dirty="0" smtClean="0"/>
              <a:t>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74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Golden </a:t>
            </a:r>
            <a:r>
              <a:rPr lang="en-US" b="1" dirty="0" smtClean="0">
                <a:solidFill>
                  <a:srgbClr val="FF0000"/>
                </a:solidFill>
              </a:rPr>
              <a:t>Rule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“Provide Context, Not Noise”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Good prompts:</a:t>
            </a:r>
            <a:endParaRPr lang="en-IN" dirty="0"/>
          </a:p>
          <a:p>
            <a:pPr lvl="0"/>
            <a:r>
              <a:rPr lang="en-US" dirty="0"/>
              <a:t>Give structured information</a:t>
            </a:r>
            <a:endParaRPr lang="en-IN" dirty="0"/>
          </a:p>
          <a:p>
            <a:pPr lvl="0"/>
            <a:r>
              <a:rPr lang="en-US" dirty="0"/>
              <a:t>Provide only relevant details</a:t>
            </a:r>
            <a:endParaRPr lang="en-IN" dirty="0"/>
          </a:p>
          <a:p>
            <a:pPr lvl="0"/>
            <a:r>
              <a:rPr lang="en-US" dirty="0"/>
              <a:t>Focus on business objective</a:t>
            </a:r>
            <a:endParaRPr lang="en-IN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Bad </a:t>
            </a:r>
            <a:r>
              <a:rPr lang="en-US" dirty="0"/>
              <a:t>prompts:</a:t>
            </a:r>
            <a:endParaRPr lang="en-IN" dirty="0"/>
          </a:p>
          <a:p>
            <a:pPr lvl="0"/>
            <a:r>
              <a:rPr lang="en-US" dirty="0"/>
              <a:t>Dump entire codebase</a:t>
            </a:r>
            <a:endParaRPr lang="en-IN" dirty="0"/>
          </a:p>
          <a:p>
            <a:pPr lvl="0"/>
            <a:r>
              <a:rPr lang="en-US" dirty="0"/>
              <a:t>Share full logs unnecessarily</a:t>
            </a:r>
            <a:endParaRPr lang="en-IN" dirty="0"/>
          </a:p>
          <a:p>
            <a:r>
              <a:rPr lang="en-US" dirty="0"/>
              <a:t>Ask vague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44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General AI Prompting Best Practices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870166"/>
              </p:ext>
            </p:extLst>
          </p:nvPr>
        </p:nvGraphicFramePr>
        <p:xfrm>
          <a:off x="773304" y="1988840"/>
          <a:ext cx="8983272" cy="3672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5805191" imgH="2373999" progId="Word.Document.12">
                  <p:embed/>
                </p:oleObj>
              </mc:Choice>
              <mc:Fallback>
                <p:oleObj name="Document" r:id="rId3" imgW="5805191" imgH="2373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3304" y="1988840"/>
                        <a:ext cx="8983272" cy="3672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744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Common Mistakes While Using Copilot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860880"/>
              </p:ext>
            </p:extLst>
          </p:nvPr>
        </p:nvGraphicFramePr>
        <p:xfrm>
          <a:off x="1387523" y="1844824"/>
          <a:ext cx="8369053" cy="3096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r:id="rId3" imgW="5805191" imgH="2147955" progId="Word.Document.12">
                  <p:embed/>
                </p:oleObj>
              </mc:Choice>
              <mc:Fallback>
                <p:oleObj name="Document" r:id="rId3" imgW="5805191" imgH="2147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7523" y="1844824"/>
                        <a:ext cx="8369053" cy="3096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084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Business Analyst (BA) – Effective AI </a:t>
            </a:r>
            <a:r>
              <a:rPr lang="en-US" b="1" dirty="0" smtClean="0">
                <a:solidFill>
                  <a:srgbClr val="FF0000"/>
                </a:solidFill>
              </a:rPr>
              <a:t>Usage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BA Prompting Strategy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What BA Should Provide</a:t>
            </a:r>
            <a:endParaRPr lang="en-IN" dirty="0"/>
          </a:p>
          <a:p>
            <a:pPr lvl="0"/>
            <a:r>
              <a:rPr lang="en-US" dirty="0"/>
              <a:t>Business objective</a:t>
            </a:r>
            <a:endParaRPr lang="en-IN" dirty="0"/>
          </a:p>
          <a:p>
            <a:pPr lvl="0"/>
            <a:r>
              <a:rPr lang="en-US" dirty="0"/>
              <a:t>Actors/users</a:t>
            </a:r>
            <a:endParaRPr lang="en-IN" dirty="0"/>
          </a:p>
          <a:p>
            <a:pPr lvl="0"/>
            <a:r>
              <a:rPr lang="en-US" dirty="0"/>
              <a:t>Workflow</a:t>
            </a:r>
            <a:endParaRPr lang="en-IN" dirty="0"/>
          </a:p>
          <a:p>
            <a:pPr lvl="0"/>
            <a:r>
              <a:rPr lang="en-US" dirty="0"/>
              <a:t>Business rules</a:t>
            </a:r>
            <a:endParaRPr lang="en-IN" dirty="0"/>
          </a:p>
          <a:p>
            <a:pPr lvl="0"/>
            <a:r>
              <a:rPr lang="en-US" dirty="0"/>
              <a:t>Acceptance criteria</a:t>
            </a:r>
            <a:endParaRPr lang="en-IN" dirty="0"/>
          </a:p>
          <a:p>
            <a:pPr lvl="0"/>
            <a:r>
              <a:rPr lang="en-US" dirty="0"/>
              <a:t>Constraints</a:t>
            </a:r>
            <a:endParaRPr lang="en-IN" dirty="0"/>
          </a:p>
          <a:p>
            <a:r>
              <a:rPr lang="en-US" dirty="0"/>
              <a:t>Edge cases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919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Provide Structured Requirements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 Example</a:t>
            </a:r>
            <a:endParaRPr lang="en-IN" dirty="0"/>
          </a:p>
          <a:p>
            <a:r>
              <a:rPr lang="en-US" dirty="0"/>
              <a:t>Generate user stories for a retail banking Loan Origination System where customers can apply for personal, vehicle, and home loans.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31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Mention Business Rules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Loan eligibility should reject applicants with credit score below 650.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86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DO Break Requirements Into Modules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Instead of: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Generate complete banking system.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Use:</a:t>
            </a:r>
            <a:endParaRPr lang="en-IN" dirty="0"/>
          </a:p>
          <a:p>
            <a:pPr lvl="0"/>
            <a:r>
              <a:rPr lang="en-US" dirty="0"/>
              <a:t>Customer onboarding</a:t>
            </a:r>
            <a:endParaRPr lang="en-IN" dirty="0"/>
          </a:p>
          <a:p>
            <a:pPr lvl="0"/>
            <a:r>
              <a:rPr lang="en-US" dirty="0"/>
              <a:t>Loan application</a:t>
            </a:r>
            <a:endParaRPr lang="en-IN" dirty="0"/>
          </a:p>
          <a:p>
            <a:pPr lvl="0"/>
            <a:r>
              <a:rPr lang="en-US" dirty="0"/>
              <a:t>Eligibility check</a:t>
            </a:r>
            <a:endParaRPr lang="en-IN" dirty="0"/>
          </a:p>
          <a:p>
            <a:r>
              <a:rPr lang="en-US" dirty="0"/>
              <a:t>Approval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51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Give Vague Prompts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Create banking requirements.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Problem</a:t>
            </a:r>
            <a:endParaRPr lang="en-IN" dirty="0"/>
          </a:p>
          <a:p>
            <a:pPr lvl="0"/>
            <a:r>
              <a:rPr lang="en-US" dirty="0"/>
              <a:t>Generic output</a:t>
            </a:r>
            <a:endParaRPr lang="en-IN" dirty="0"/>
          </a:p>
          <a:p>
            <a:r>
              <a:rPr lang="en-US" dirty="0"/>
              <a:t>Missing business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21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Paste Huge Meeting Notes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Instead:</a:t>
            </a:r>
            <a:endParaRPr lang="en-IN" dirty="0"/>
          </a:p>
          <a:p>
            <a:pPr lvl="0"/>
            <a:r>
              <a:rPr lang="en-US" dirty="0"/>
              <a:t>Summarize requirements</a:t>
            </a:r>
            <a:endParaRPr lang="en-IN" dirty="0"/>
          </a:p>
          <a:p>
            <a:r>
              <a:rPr lang="en-US" dirty="0"/>
              <a:t>Extract important workflows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14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Ask Multiple Things Together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Create BRD, APIs, UI design, architecture, and test cases.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Better</a:t>
            </a:r>
            <a:endParaRPr lang="en-IN" dirty="0"/>
          </a:p>
          <a:p>
            <a:r>
              <a:rPr lang="en-US" dirty="0"/>
              <a:t>Break into phases.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14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 Effective Prompt Example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Act as a Senior Banking BA. Generate detailed user stories for Loan Origination System with:</a:t>
            </a:r>
            <a:endParaRPr lang="en-IN" dirty="0"/>
          </a:p>
          <a:p>
            <a:pPr lvl="0"/>
            <a:r>
              <a:rPr lang="en-US" dirty="0"/>
              <a:t>Actor</a:t>
            </a:r>
            <a:endParaRPr lang="en-IN" dirty="0"/>
          </a:p>
          <a:p>
            <a:pPr lvl="0"/>
            <a:r>
              <a:rPr lang="en-US" dirty="0"/>
              <a:t>Preconditions</a:t>
            </a:r>
            <a:endParaRPr lang="en-IN" dirty="0"/>
          </a:p>
          <a:p>
            <a:pPr lvl="0"/>
            <a:r>
              <a:rPr lang="en-US" dirty="0"/>
              <a:t>Main flow</a:t>
            </a:r>
            <a:endParaRPr lang="en-IN" dirty="0"/>
          </a:p>
          <a:p>
            <a:pPr lvl="0"/>
            <a:r>
              <a:rPr lang="en-US" dirty="0"/>
              <a:t>Alternate flow</a:t>
            </a:r>
            <a:endParaRPr lang="en-IN" dirty="0"/>
          </a:p>
          <a:p>
            <a:pPr lvl="0"/>
            <a:r>
              <a:rPr lang="en-US" dirty="0"/>
              <a:t>Business rules</a:t>
            </a:r>
            <a:endParaRPr lang="en-IN" dirty="0"/>
          </a:p>
          <a:p>
            <a:pPr lvl="0"/>
            <a:r>
              <a:rPr lang="en-US" dirty="0"/>
              <a:t>Exceptions</a:t>
            </a:r>
            <a:endParaRPr lang="en-IN" dirty="0"/>
          </a:p>
          <a:p>
            <a:pPr lvl="0"/>
            <a:r>
              <a:rPr lang="en-US" dirty="0"/>
              <a:t>Acceptance criteria</a:t>
            </a:r>
            <a:br>
              <a:rPr lang="en-US" dirty="0"/>
            </a:br>
            <a:r>
              <a:rPr lang="en-US" dirty="0"/>
              <a:t>Include RBI compliance considerations and audit logging requirements.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63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Analyst – Effective AI Usage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Developer Prompting Strategy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Developers should provide:</a:t>
            </a:r>
            <a:endParaRPr lang="en-IN" dirty="0"/>
          </a:p>
          <a:p>
            <a:pPr lvl="0"/>
            <a:r>
              <a:rPr lang="en-US" dirty="0"/>
              <a:t>Tech stack</a:t>
            </a:r>
            <a:endParaRPr lang="en-IN" dirty="0"/>
          </a:p>
          <a:p>
            <a:pPr lvl="0"/>
            <a:r>
              <a:rPr lang="en-US" dirty="0"/>
              <a:t>Architecture pattern</a:t>
            </a:r>
            <a:endParaRPr lang="en-IN" dirty="0"/>
          </a:p>
          <a:p>
            <a:pPr lvl="0"/>
            <a:r>
              <a:rPr lang="en-US" dirty="0"/>
              <a:t>Coding standards</a:t>
            </a:r>
            <a:endParaRPr lang="en-IN" dirty="0"/>
          </a:p>
          <a:p>
            <a:pPr lvl="0"/>
            <a:r>
              <a:rPr lang="en-US" dirty="0"/>
              <a:t>Validation rules</a:t>
            </a:r>
            <a:endParaRPr lang="en-IN" dirty="0"/>
          </a:p>
          <a:p>
            <a:pPr lvl="0"/>
            <a:r>
              <a:rPr lang="en-US" dirty="0"/>
              <a:t>Expected response format</a:t>
            </a:r>
            <a:endParaRPr lang="en-IN" dirty="0"/>
          </a:p>
          <a:p>
            <a:r>
              <a:rPr lang="en-US" dirty="0"/>
              <a:t>Security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029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</a:t>
            </a:r>
            <a:r>
              <a:rPr lang="en-US" b="1" dirty="0">
                <a:solidFill>
                  <a:srgbClr val="FF0000"/>
                </a:solidFill>
              </a:rPr>
              <a:t>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Mention Technology Stack Clearly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 Example</a:t>
            </a:r>
            <a:endParaRPr lang="en-IN" dirty="0"/>
          </a:p>
          <a:p>
            <a:r>
              <a:rPr lang="en-US" dirty="0"/>
              <a:t>Generate Spring Boot REST APIs using Java 21, </a:t>
            </a:r>
            <a:r>
              <a:rPr lang="en-US" dirty="0" smtClean="0"/>
              <a:t>PostgreSQL</a:t>
            </a:r>
            <a:r>
              <a:rPr lang="en-US" dirty="0"/>
              <a:t>, Maven, and JWT authentication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DO Mention Coding Standards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Follow SOLID principles and layered architecture.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92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DO Ask for Production-Ready Code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Include:</a:t>
            </a:r>
            <a:endParaRPr lang="en-IN" dirty="0"/>
          </a:p>
          <a:p>
            <a:pPr lvl="0"/>
            <a:r>
              <a:rPr lang="en-US" dirty="0"/>
              <a:t>Exception handling</a:t>
            </a:r>
            <a:endParaRPr lang="en-IN" dirty="0"/>
          </a:p>
          <a:p>
            <a:pPr lvl="0"/>
            <a:r>
              <a:rPr lang="en-US" dirty="0"/>
              <a:t>Logging</a:t>
            </a:r>
            <a:endParaRPr lang="en-IN" dirty="0"/>
          </a:p>
          <a:p>
            <a:pPr lvl="0"/>
            <a:r>
              <a:rPr lang="en-US" dirty="0"/>
              <a:t>Validation</a:t>
            </a:r>
            <a:endParaRPr lang="en-IN" dirty="0"/>
          </a:p>
          <a:p>
            <a:pPr lvl="0"/>
            <a:r>
              <a:rPr lang="en-US" dirty="0"/>
              <a:t>DTO mapping</a:t>
            </a:r>
            <a:endParaRPr lang="en-IN" dirty="0"/>
          </a:p>
          <a:p>
            <a:pPr lvl="0"/>
            <a:r>
              <a:rPr lang="en-US" dirty="0"/>
              <a:t>Swagger documentation</a:t>
            </a:r>
            <a:endParaRPr lang="en-IN" dirty="0"/>
          </a:p>
          <a:p>
            <a:r>
              <a:rPr lang="en-US" dirty="0"/>
              <a:t>Unit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79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Provide Small Focused Tasks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Instead of: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Build complete backend.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Use:</a:t>
            </a:r>
            <a:endParaRPr lang="en-IN" dirty="0"/>
          </a:p>
          <a:p>
            <a:pPr lvl="0"/>
            <a:r>
              <a:rPr lang="en-US" dirty="0"/>
              <a:t>Generate Login API</a:t>
            </a:r>
            <a:endParaRPr lang="en-IN" dirty="0"/>
          </a:p>
          <a:p>
            <a:pPr lvl="0"/>
            <a:r>
              <a:rPr lang="en-US" dirty="0"/>
              <a:t>Generate Loan Application API</a:t>
            </a:r>
            <a:endParaRPr lang="en-IN" dirty="0"/>
          </a:p>
          <a:p>
            <a:r>
              <a:rPr lang="en-US" dirty="0"/>
              <a:t>Generate Validation 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99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DO Share Only Relevant Error Messages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Paste:</a:t>
            </a:r>
            <a:endParaRPr lang="en-IN" dirty="0"/>
          </a:p>
          <a:p>
            <a:pPr lvl="0"/>
            <a:r>
              <a:rPr lang="en-US" dirty="0"/>
              <a:t>Entire stack trace</a:t>
            </a:r>
            <a:endParaRPr lang="en-IN" dirty="0"/>
          </a:p>
          <a:p>
            <a:pPr lvl="0"/>
            <a:r>
              <a:rPr lang="en-US" dirty="0"/>
              <a:t>500 lines of logs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Share:</a:t>
            </a:r>
            <a:endParaRPr lang="en-IN" dirty="0"/>
          </a:p>
          <a:p>
            <a:pPr lvl="0"/>
            <a:r>
              <a:rPr lang="en-US" dirty="0"/>
              <a:t>Exact error message</a:t>
            </a:r>
            <a:endParaRPr lang="en-IN" dirty="0"/>
          </a:p>
          <a:p>
            <a:pPr lvl="0"/>
            <a:r>
              <a:rPr lang="en-US" dirty="0"/>
              <a:t>Relevant code snippet</a:t>
            </a:r>
            <a:endParaRPr lang="en-IN" dirty="0"/>
          </a:p>
          <a:p>
            <a:r>
              <a:rPr lang="en-US" dirty="0"/>
              <a:t>Expected 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85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Here is full server log of 300 lines.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Error:</a:t>
            </a:r>
          </a:p>
          <a:p>
            <a:r>
              <a:rPr lang="en-US" dirty="0" err="1" smtClean="0"/>
              <a:t>NullPointerException</a:t>
            </a:r>
            <a:r>
              <a:rPr lang="en-US" dirty="0" smtClean="0"/>
              <a:t> </a:t>
            </a:r>
            <a:r>
              <a:rPr lang="en-US" dirty="0"/>
              <a:t>while saving loan application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Relevant </a:t>
            </a:r>
            <a:r>
              <a:rPr lang="en-US" dirty="0" smtClean="0"/>
              <a:t>method:</a:t>
            </a:r>
          </a:p>
          <a:p>
            <a:r>
              <a:rPr lang="en-US" dirty="0" err="1" smtClean="0"/>
              <a:t>saveLoanApplication</a:t>
            </a:r>
            <a:r>
              <a:rPr lang="en-US" dirty="0"/>
              <a:t>()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Expected:</a:t>
            </a:r>
          </a:p>
          <a:p>
            <a:r>
              <a:rPr lang="en-US" dirty="0" smtClean="0"/>
              <a:t>Customer </a:t>
            </a:r>
            <a:r>
              <a:rPr lang="en-US" dirty="0"/>
              <a:t>data should persist successfully.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61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Ask for Refactoring Suggestions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Refactor this service using clean code principles and reduce duplication.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80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</a:t>
            </a:r>
            <a:r>
              <a:rPr lang="en-US" b="1" dirty="0">
                <a:solidFill>
                  <a:srgbClr val="FF0000"/>
                </a:solidFill>
              </a:rPr>
              <a:t>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DON’T Dump Entire Codebase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Copilot works better with:</a:t>
            </a:r>
            <a:endParaRPr lang="en-IN" dirty="0"/>
          </a:p>
          <a:p>
            <a:pPr lvl="0"/>
            <a:r>
              <a:rPr lang="en-US" dirty="0"/>
              <a:t>Smaller files</a:t>
            </a:r>
            <a:endParaRPr lang="en-IN" dirty="0"/>
          </a:p>
          <a:p>
            <a:pPr lvl="0"/>
            <a:r>
              <a:rPr lang="en-US" dirty="0"/>
              <a:t>Focused </a:t>
            </a:r>
            <a:r>
              <a:rPr lang="en-US" dirty="0" smtClean="0"/>
              <a:t>context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DON’T </a:t>
            </a:r>
            <a:r>
              <a:rPr lang="en-US" b="1" dirty="0"/>
              <a:t>Ask Ambiguous Questions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Why is my code failing?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Better</a:t>
            </a:r>
            <a:endParaRPr lang="en-IN" dirty="0"/>
          </a:p>
          <a:p>
            <a:r>
              <a:rPr lang="en-US" dirty="0"/>
              <a:t>Why is JWT token validation failing in Spring Security filter?</a:t>
            </a: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76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Ignore Security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Always mention:</a:t>
            </a:r>
            <a:endParaRPr lang="en-IN" dirty="0"/>
          </a:p>
          <a:p>
            <a:pPr lvl="0"/>
            <a:r>
              <a:rPr lang="en-US" dirty="0"/>
              <a:t>Authentication</a:t>
            </a:r>
            <a:endParaRPr lang="en-IN" dirty="0"/>
          </a:p>
          <a:p>
            <a:pPr lvl="0"/>
            <a:r>
              <a:rPr lang="en-US" dirty="0"/>
              <a:t>Authorization</a:t>
            </a:r>
            <a:endParaRPr lang="en-IN" dirty="0"/>
          </a:p>
          <a:p>
            <a:pPr lvl="0"/>
            <a:r>
              <a:rPr lang="en-US" dirty="0"/>
              <a:t>Input validation</a:t>
            </a:r>
            <a:endParaRPr lang="en-IN" dirty="0"/>
          </a:p>
          <a:p>
            <a:pPr lvl="0"/>
            <a:r>
              <a:rPr lang="en-US" dirty="0"/>
              <a:t>SQL injection prevention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55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Accept AI Code Blindly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Always review:</a:t>
            </a:r>
            <a:endParaRPr lang="en-IN" dirty="0"/>
          </a:p>
          <a:p>
            <a:pPr lvl="0"/>
            <a:r>
              <a:rPr lang="en-US" dirty="0"/>
              <a:t>Security flaws</a:t>
            </a:r>
            <a:endParaRPr lang="en-IN" dirty="0"/>
          </a:p>
          <a:p>
            <a:pPr lvl="0"/>
            <a:r>
              <a:rPr lang="en-US" dirty="0"/>
              <a:t>Performance issues</a:t>
            </a:r>
            <a:endParaRPr lang="en-IN" dirty="0"/>
          </a:p>
          <a:p>
            <a:pPr lvl="0"/>
            <a:r>
              <a:rPr lang="en-US" dirty="0"/>
              <a:t>Logic correctness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10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Share Sensitive Data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Never paste:</a:t>
            </a:r>
            <a:endParaRPr lang="en-IN" dirty="0"/>
          </a:p>
          <a:p>
            <a:pPr lvl="0"/>
            <a:r>
              <a:rPr lang="en-US" dirty="0"/>
              <a:t>Passwords</a:t>
            </a:r>
            <a:endParaRPr lang="en-IN" dirty="0"/>
          </a:p>
          <a:p>
            <a:pPr lvl="0"/>
            <a:r>
              <a:rPr lang="en-US" dirty="0"/>
              <a:t>Tokens</a:t>
            </a:r>
            <a:endParaRPr lang="en-IN" dirty="0"/>
          </a:p>
          <a:p>
            <a:pPr lvl="0"/>
            <a:r>
              <a:rPr lang="en-US" dirty="0"/>
              <a:t>API keys</a:t>
            </a:r>
            <a:endParaRPr lang="en-IN" dirty="0"/>
          </a:p>
          <a:p>
            <a:r>
              <a:rPr lang="en-US" dirty="0"/>
              <a:t>Customer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00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 Effective Prompt </a:t>
            </a:r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Act as a Senior Spring Boot Developer.</a:t>
            </a:r>
            <a:br>
              <a:rPr lang="en-US" dirty="0"/>
            </a:br>
            <a:r>
              <a:rPr lang="en-US" dirty="0"/>
              <a:t>Generate production-ready Loan Application REST API using:</a:t>
            </a:r>
            <a:endParaRPr lang="en-IN" dirty="0"/>
          </a:p>
          <a:p>
            <a:pPr lvl="0"/>
            <a:r>
              <a:rPr lang="en-US" dirty="0"/>
              <a:t>Java 21</a:t>
            </a:r>
            <a:endParaRPr lang="en-IN" dirty="0"/>
          </a:p>
          <a:p>
            <a:pPr lvl="0"/>
            <a:r>
              <a:rPr lang="en-US" dirty="0"/>
              <a:t>Spring Boot</a:t>
            </a:r>
            <a:endParaRPr lang="en-IN" dirty="0"/>
          </a:p>
          <a:p>
            <a:pPr lvl="0"/>
            <a:r>
              <a:rPr lang="en-US" dirty="0"/>
              <a:t>PostgreSQL</a:t>
            </a:r>
            <a:endParaRPr lang="en-IN" dirty="0"/>
          </a:p>
          <a:p>
            <a:pPr lvl="0"/>
            <a:r>
              <a:rPr lang="en-US" dirty="0"/>
              <a:t>JWT authentication</a:t>
            </a:r>
            <a:br>
              <a:rPr lang="en-US" dirty="0"/>
            </a:br>
            <a:r>
              <a:rPr lang="en-US" dirty="0"/>
              <a:t>Include:</a:t>
            </a:r>
            <a:endParaRPr lang="en-IN" dirty="0"/>
          </a:p>
          <a:p>
            <a:pPr lvl="0"/>
            <a:r>
              <a:rPr lang="en-US" dirty="0"/>
              <a:t>Layered architecture</a:t>
            </a:r>
            <a:endParaRPr lang="en-IN" dirty="0"/>
          </a:p>
          <a:p>
            <a:pPr lvl="0"/>
            <a:r>
              <a:rPr lang="en-US" dirty="0"/>
              <a:t>DTO pattern</a:t>
            </a:r>
            <a:endParaRPr lang="en-IN" dirty="0"/>
          </a:p>
          <a:p>
            <a:pPr lvl="0"/>
            <a:r>
              <a:rPr lang="en-US" dirty="0"/>
              <a:t>Validation</a:t>
            </a:r>
            <a:endParaRPr lang="en-IN" dirty="0"/>
          </a:p>
          <a:p>
            <a:pPr lvl="0"/>
            <a:r>
              <a:rPr lang="en-US" dirty="0"/>
              <a:t>Exception handling</a:t>
            </a:r>
            <a:endParaRPr lang="en-IN" dirty="0"/>
          </a:p>
          <a:p>
            <a:pPr lvl="0"/>
            <a:r>
              <a:rPr lang="en-US" dirty="0"/>
              <a:t>Logging</a:t>
            </a:r>
            <a:endParaRPr lang="en-IN" dirty="0"/>
          </a:p>
          <a:p>
            <a:pPr lvl="0"/>
            <a:r>
              <a:rPr lang="en-US" dirty="0"/>
              <a:t>Swagger</a:t>
            </a:r>
            <a:endParaRPr lang="en-IN" dirty="0"/>
          </a:p>
          <a:p>
            <a:r>
              <a:rPr lang="en-US" dirty="0"/>
              <a:t>Unit tests</a:t>
            </a:r>
            <a:br>
              <a:rPr lang="en-US" dirty="0"/>
            </a:br>
            <a:r>
              <a:rPr lang="en-US" dirty="0"/>
              <a:t>Follow SOLID principles.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831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/ QA – Effective AI Usage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Tester Prompting Strategy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Testers should provide:</a:t>
            </a:r>
            <a:endParaRPr lang="en-IN" dirty="0"/>
          </a:p>
          <a:p>
            <a:pPr lvl="0"/>
            <a:r>
              <a:rPr lang="en-US" dirty="0"/>
              <a:t>Functional flow</a:t>
            </a:r>
            <a:endParaRPr lang="en-IN" dirty="0"/>
          </a:p>
          <a:p>
            <a:pPr lvl="0"/>
            <a:r>
              <a:rPr lang="en-US" dirty="0"/>
              <a:t>Expected results</a:t>
            </a:r>
            <a:endParaRPr lang="en-IN" dirty="0"/>
          </a:p>
          <a:p>
            <a:pPr lvl="0"/>
            <a:r>
              <a:rPr lang="en-US" dirty="0"/>
              <a:t>Positive scenarios</a:t>
            </a:r>
            <a:endParaRPr lang="en-IN" dirty="0"/>
          </a:p>
          <a:p>
            <a:pPr lvl="0"/>
            <a:r>
              <a:rPr lang="en-US" dirty="0"/>
              <a:t>Negative scenarios</a:t>
            </a:r>
            <a:endParaRPr lang="en-IN" dirty="0"/>
          </a:p>
          <a:p>
            <a:pPr lvl="0"/>
            <a:r>
              <a:rPr lang="en-US" dirty="0"/>
              <a:t>Boundary conditions</a:t>
            </a:r>
            <a:endParaRPr lang="en-IN" dirty="0"/>
          </a:p>
          <a:p>
            <a:pPr lvl="0"/>
            <a:r>
              <a:rPr lang="en-US" dirty="0"/>
              <a:t>API details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90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</a:t>
            </a:r>
            <a:r>
              <a:rPr lang="en-US" b="1" dirty="0">
                <a:solidFill>
                  <a:srgbClr val="FF0000"/>
                </a:solidFill>
              </a:rPr>
              <a:t>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 Mention Testing Type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Generate:</a:t>
            </a:r>
            <a:endParaRPr lang="en-IN" dirty="0"/>
          </a:p>
          <a:p>
            <a:pPr lvl="0"/>
            <a:r>
              <a:rPr lang="en-US" dirty="0"/>
              <a:t>Functional tests</a:t>
            </a:r>
            <a:endParaRPr lang="en-IN" dirty="0"/>
          </a:p>
          <a:p>
            <a:pPr lvl="0"/>
            <a:r>
              <a:rPr lang="en-US" dirty="0"/>
              <a:t>API tests</a:t>
            </a:r>
            <a:endParaRPr lang="en-IN" dirty="0"/>
          </a:p>
          <a:p>
            <a:pPr lvl="0"/>
            <a:r>
              <a:rPr lang="en-US" dirty="0"/>
              <a:t>Security tests</a:t>
            </a:r>
            <a:endParaRPr lang="en-IN" dirty="0"/>
          </a:p>
          <a:p>
            <a:pPr lvl="0"/>
            <a:r>
              <a:rPr lang="en-US" dirty="0"/>
              <a:t>Performance tests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74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DO’s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DO Mention Edge Cases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Include invalid PAN number and low credit score scenarios.</a:t>
            </a:r>
            <a:endParaRPr lang="en-IN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DO </a:t>
            </a:r>
            <a:r>
              <a:rPr lang="en-US" b="1" dirty="0"/>
              <a:t>Share Exact Failures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 Example</a:t>
            </a:r>
            <a:endParaRPr lang="en-IN" dirty="0"/>
          </a:p>
          <a:p>
            <a:r>
              <a:rPr lang="en-US" dirty="0"/>
              <a:t>API returns 401 instead of 403 for unauthorized role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DO </a:t>
            </a:r>
            <a:r>
              <a:rPr lang="en-US" b="1" dirty="0"/>
              <a:t>Provide Expected Result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User with invalid OTP should receive validation message.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358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</a:t>
            </a:r>
            <a:r>
              <a:rPr lang="en-US" b="1" dirty="0">
                <a:solidFill>
                  <a:srgbClr val="FF0000"/>
                </a:solidFill>
              </a:rPr>
              <a:t>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Give Generic Prompt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Write test cases.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Better</a:t>
            </a:r>
            <a:endParaRPr lang="en-IN" dirty="0"/>
          </a:p>
          <a:p>
            <a:r>
              <a:rPr lang="en-US" dirty="0"/>
              <a:t>Generate boundary and negative test cases for loan eligibility API.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96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Paste Huge Automation Logs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Instead provide:</a:t>
            </a:r>
            <a:endParaRPr lang="en-IN" dirty="0"/>
          </a:p>
          <a:p>
            <a:pPr lvl="0"/>
            <a:r>
              <a:rPr lang="en-US" dirty="0"/>
              <a:t>Failed assertion</a:t>
            </a:r>
            <a:endParaRPr lang="en-IN" dirty="0"/>
          </a:p>
          <a:p>
            <a:pPr lvl="0"/>
            <a:r>
              <a:rPr lang="en-US" dirty="0"/>
              <a:t>Relevant API response</a:t>
            </a:r>
            <a:endParaRPr lang="en-IN" dirty="0"/>
          </a:p>
          <a:p>
            <a:pPr lvl="0"/>
            <a:r>
              <a:rPr lang="en-US" dirty="0"/>
              <a:t>Screenshot if required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4790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DON’Ts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DON’T Trust Generated Test Cases </a:t>
            </a:r>
            <a:r>
              <a:rPr lang="en-US" b="1" dirty="0" smtClean="0"/>
              <a:t>Fully</a:t>
            </a:r>
          </a:p>
          <a:p>
            <a:pPr marL="0" indent="0">
              <a:buNone/>
            </a:pPr>
            <a:r>
              <a:rPr lang="en-US" dirty="0"/>
              <a:t>Always validate:</a:t>
            </a:r>
            <a:endParaRPr lang="en-IN" dirty="0"/>
          </a:p>
          <a:p>
            <a:pPr lvl="0"/>
            <a:r>
              <a:rPr lang="en-US" dirty="0"/>
              <a:t>Business logic coverage</a:t>
            </a:r>
            <a:endParaRPr lang="en-IN" dirty="0"/>
          </a:p>
          <a:p>
            <a:pPr lvl="0"/>
            <a:r>
              <a:rPr lang="en-US" dirty="0"/>
              <a:t>Edge cases</a:t>
            </a:r>
            <a:endParaRPr lang="en-IN" dirty="0"/>
          </a:p>
          <a:p>
            <a:r>
              <a:rPr lang="en-US" dirty="0"/>
              <a:t>Compliance requirements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800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Tester Effective Prompt Example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Act </a:t>
            </a:r>
            <a:r>
              <a:rPr lang="en-US" dirty="0"/>
              <a:t>as a Senior QA Automation Engineer.</a:t>
            </a:r>
            <a:br>
              <a:rPr lang="en-US" dirty="0"/>
            </a:br>
            <a:r>
              <a:rPr lang="en-US" dirty="0"/>
              <a:t>Generate comprehensive test scenarios for Loan Origination System including:</a:t>
            </a:r>
            <a:endParaRPr lang="en-IN" dirty="0"/>
          </a:p>
          <a:p>
            <a:pPr lvl="0"/>
            <a:r>
              <a:rPr lang="en-US" dirty="0"/>
              <a:t>Functional testing</a:t>
            </a:r>
            <a:endParaRPr lang="en-IN" dirty="0"/>
          </a:p>
          <a:p>
            <a:pPr lvl="0"/>
            <a:r>
              <a:rPr lang="en-US" dirty="0"/>
              <a:t>API testing</a:t>
            </a:r>
            <a:endParaRPr lang="en-IN" dirty="0"/>
          </a:p>
          <a:p>
            <a:pPr lvl="0"/>
            <a:r>
              <a:rPr lang="en-US" dirty="0"/>
              <a:t>Security testing</a:t>
            </a:r>
            <a:endParaRPr lang="en-IN" dirty="0"/>
          </a:p>
          <a:p>
            <a:pPr lvl="0"/>
            <a:r>
              <a:rPr lang="en-US" dirty="0"/>
              <a:t>Boundary testing</a:t>
            </a:r>
            <a:endParaRPr lang="en-IN" dirty="0"/>
          </a:p>
          <a:p>
            <a:pPr lvl="0"/>
            <a:r>
              <a:rPr lang="en-US" dirty="0"/>
              <a:t>Negative </a:t>
            </a:r>
            <a:r>
              <a:rPr lang="en-US" dirty="0" smtClean="0"/>
              <a:t>testing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Include:</a:t>
            </a:r>
            <a:endParaRPr lang="en-IN" b="1" dirty="0"/>
          </a:p>
          <a:p>
            <a:pPr lvl="0"/>
            <a:r>
              <a:rPr lang="en-US" dirty="0"/>
              <a:t>Test data</a:t>
            </a:r>
            <a:endParaRPr lang="en-IN" dirty="0"/>
          </a:p>
          <a:p>
            <a:pPr lvl="0"/>
            <a:r>
              <a:rPr lang="en-US" dirty="0"/>
              <a:t>Expected results</a:t>
            </a:r>
            <a:endParaRPr lang="en-IN" dirty="0"/>
          </a:p>
          <a:p>
            <a:pPr lvl="0"/>
            <a:r>
              <a:rPr lang="en-US" dirty="0"/>
              <a:t>Traceability matrix</a:t>
            </a:r>
            <a:endParaRPr lang="en-IN" dirty="0"/>
          </a:p>
          <a:p>
            <a:pPr lvl="0"/>
            <a:r>
              <a:rPr lang="en-US" dirty="0"/>
              <a:t>Automation feasibility.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53780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Token Optimization Techniques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Technique 1 – Use Structured Prompts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Create loan app.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</a:t>
            </a:r>
            <a:endParaRPr lang="en-IN" dirty="0"/>
          </a:p>
          <a:p>
            <a:r>
              <a:rPr lang="en-US" dirty="0"/>
              <a:t>Generate Spring Boot Loan Application API with JWT security and PostgreSQL integration.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863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Token Optimization Techniques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Technique 2 – Provide Relevant Context Only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Bad</a:t>
            </a:r>
            <a:endParaRPr lang="en-IN" dirty="0"/>
          </a:p>
          <a:p>
            <a:r>
              <a:rPr lang="en-US" dirty="0"/>
              <a:t>Paste:</a:t>
            </a:r>
            <a:endParaRPr lang="en-IN" dirty="0"/>
          </a:p>
          <a:p>
            <a:pPr lvl="0"/>
            <a:r>
              <a:rPr lang="en-US" dirty="0"/>
              <a:t>Full codebase</a:t>
            </a:r>
            <a:endParaRPr lang="en-IN" dirty="0"/>
          </a:p>
          <a:p>
            <a:pPr lvl="0"/>
            <a:r>
              <a:rPr lang="en-US" dirty="0"/>
              <a:t>Entire logs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Good</a:t>
            </a:r>
            <a:endParaRPr lang="en-IN" dirty="0"/>
          </a:p>
          <a:p>
            <a:r>
              <a:rPr lang="en-US" dirty="0"/>
              <a:t>Provide:</a:t>
            </a:r>
            <a:endParaRPr lang="en-IN" dirty="0"/>
          </a:p>
          <a:p>
            <a:pPr lvl="0"/>
            <a:r>
              <a:rPr lang="en-US" dirty="0"/>
              <a:t>Relevant method</a:t>
            </a:r>
            <a:endParaRPr lang="en-IN" dirty="0"/>
          </a:p>
          <a:p>
            <a:pPr lvl="0"/>
            <a:r>
              <a:rPr lang="en-US" dirty="0"/>
              <a:t>Exact issue</a:t>
            </a:r>
            <a:endParaRPr lang="en-IN" dirty="0"/>
          </a:p>
          <a:p>
            <a:r>
              <a:rPr lang="en-US" dirty="0"/>
              <a:t>Expected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126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Token Optimization Techniques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Technique 3 – Use Incremental Prompting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Instead of: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Build entire application.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Use sequence:</a:t>
            </a:r>
            <a:endParaRPr lang="en-IN" dirty="0"/>
          </a:p>
          <a:p>
            <a:pPr lvl="0"/>
            <a:r>
              <a:rPr lang="en-US" dirty="0"/>
              <a:t>Generate entities</a:t>
            </a:r>
            <a:endParaRPr lang="en-IN" dirty="0"/>
          </a:p>
          <a:p>
            <a:pPr lvl="0"/>
            <a:r>
              <a:rPr lang="en-US" dirty="0"/>
              <a:t>Generate repositories</a:t>
            </a:r>
            <a:endParaRPr lang="en-IN" dirty="0"/>
          </a:p>
          <a:p>
            <a:pPr lvl="0"/>
            <a:r>
              <a:rPr lang="en-US" dirty="0"/>
              <a:t>Generate services</a:t>
            </a:r>
            <a:endParaRPr lang="en-IN" dirty="0"/>
          </a:p>
          <a:p>
            <a:pPr lvl="0"/>
            <a:r>
              <a:rPr lang="en-US" dirty="0"/>
              <a:t>Generate controllers</a:t>
            </a:r>
            <a:endParaRPr lang="en-IN" dirty="0"/>
          </a:p>
          <a:p>
            <a:r>
              <a:rPr lang="en-US" dirty="0"/>
              <a:t>Generate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4264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Token Optimization Techniques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Technique 4 – Ask for Specific Improvements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Example</a:t>
            </a:r>
            <a:endParaRPr lang="en-IN" dirty="0"/>
          </a:p>
          <a:p>
            <a:r>
              <a:rPr lang="en-US" dirty="0"/>
              <a:t>Optimize this SQL query for performance.</a:t>
            </a:r>
            <a:endParaRPr lang="en-IN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Technique </a:t>
            </a:r>
            <a:r>
              <a:rPr lang="en-US" b="1" dirty="0"/>
              <a:t>5 – Reuse Prompt Templates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Create reusable prompts for:</a:t>
            </a:r>
            <a:endParaRPr lang="en-IN" dirty="0"/>
          </a:p>
          <a:p>
            <a:pPr lvl="0"/>
            <a:r>
              <a:rPr lang="en-US" dirty="0"/>
              <a:t>API generation</a:t>
            </a:r>
            <a:endParaRPr lang="en-IN" dirty="0"/>
          </a:p>
          <a:p>
            <a:pPr lvl="0"/>
            <a:r>
              <a:rPr lang="en-US" dirty="0"/>
              <a:t>Unit testing</a:t>
            </a:r>
            <a:endParaRPr lang="en-IN" dirty="0"/>
          </a:p>
          <a:p>
            <a:pPr lvl="0"/>
            <a:r>
              <a:rPr lang="en-US" dirty="0"/>
              <a:t>Refactoring</a:t>
            </a:r>
            <a:endParaRPr lang="en-IN" dirty="0"/>
          </a:p>
          <a:p>
            <a:r>
              <a:rPr lang="en-US" dirty="0"/>
              <a:t>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7620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88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1169</Words>
  <Application>Microsoft Office PowerPoint</Application>
  <PresentationFormat>On-screen Show (4:3)</PresentationFormat>
  <Paragraphs>348</Paragraphs>
  <Slides>47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Office Theme</vt:lpstr>
      <vt:lpstr>Microsoft Word Document</vt:lpstr>
      <vt:lpstr>Role-Based Development BA → Developer → Tester Flow</vt:lpstr>
      <vt:lpstr>How BA → Developer → QA flow works with Copilot</vt:lpstr>
      <vt:lpstr>Note</vt:lpstr>
      <vt:lpstr>BA</vt:lpstr>
      <vt:lpstr>Developer</vt:lpstr>
      <vt:lpstr>Developer</vt:lpstr>
      <vt:lpstr>Developer</vt:lpstr>
      <vt:lpstr>Best Practice</vt:lpstr>
      <vt:lpstr>PowerPoint Presentation</vt:lpstr>
      <vt:lpstr>(End-to-End Automation Style)</vt:lpstr>
      <vt:lpstr>Final Answer</vt:lpstr>
      <vt:lpstr>FINAL STATEMENT</vt:lpstr>
      <vt:lpstr>Golden Rule</vt:lpstr>
      <vt:lpstr>General AI Prompting Best Practices</vt:lpstr>
      <vt:lpstr>Common Mistakes While Using Copilot</vt:lpstr>
      <vt:lpstr>Business Analyst (BA) – Effective AI Usage</vt:lpstr>
      <vt:lpstr>BA DO’s</vt:lpstr>
      <vt:lpstr>BA DO’s</vt:lpstr>
      <vt:lpstr>BA DO’s</vt:lpstr>
      <vt:lpstr>BA DON’Ts</vt:lpstr>
      <vt:lpstr>BA DON’Ts</vt:lpstr>
      <vt:lpstr>BA DON’Ts</vt:lpstr>
      <vt:lpstr>BA Effective Prompt Example</vt:lpstr>
      <vt:lpstr>Developer Analyst – Effective AI Usage</vt:lpstr>
      <vt:lpstr>Developer DO’s</vt:lpstr>
      <vt:lpstr>Developer DO’s</vt:lpstr>
      <vt:lpstr>Developer DO’s</vt:lpstr>
      <vt:lpstr>Developer DO’s</vt:lpstr>
      <vt:lpstr>Developer DO’s</vt:lpstr>
      <vt:lpstr>Developer DO’s</vt:lpstr>
      <vt:lpstr>Developer DON’Ts</vt:lpstr>
      <vt:lpstr>Developer DON’Ts</vt:lpstr>
      <vt:lpstr>Developer DON’Ts</vt:lpstr>
      <vt:lpstr>Developer DON’Ts</vt:lpstr>
      <vt:lpstr>Developer Effective Prompt Example</vt:lpstr>
      <vt:lpstr>Tester / QA – Effective AI Usage</vt:lpstr>
      <vt:lpstr>Tester DO’s</vt:lpstr>
      <vt:lpstr>Tester DO’s</vt:lpstr>
      <vt:lpstr>Tester DON’Ts</vt:lpstr>
      <vt:lpstr>Tester DON’Ts</vt:lpstr>
      <vt:lpstr>Tester DON’Ts</vt:lpstr>
      <vt:lpstr>Tester Effective Prompt Example</vt:lpstr>
      <vt:lpstr>Token Optimization Techniques</vt:lpstr>
      <vt:lpstr>Token Optimization Techniques</vt:lpstr>
      <vt:lpstr>Token Optimization Techniques</vt:lpstr>
      <vt:lpstr>Token Optimization Techniques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-Capstone Project- Loan Originating Application</dc:title>
  <dc:creator>Ramnath Nishad</dc:creator>
  <cp:lastModifiedBy>Ramnath Nishad</cp:lastModifiedBy>
  <cp:revision>17</cp:revision>
  <dcterms:created xsi:type="dcterms:W3CDTF">2026-05-05T20:27:18Z</dcterms:created>
  <dcterms:modified xsi:type="dcterms:W3CDTF">2026-05-20T06:08:56Z</dcterms:modified>
</cp:coreProperties>
</file>