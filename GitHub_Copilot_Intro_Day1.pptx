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76" r:id="rId8"/>
    <p:sldId id="261" r:id="rId9"/>
    <p:sldId id="328" r:id="rId10"/>
    <p:sldId id="268" r:id="rId11"/>
    <p:sldId id="277" r:id="rId12"/>
    <p:sldId id="278" r:id="rId13"/>
    <p:sldId id="279" r:id="rId14"/>
    <p:sldId id="269" r:id="rId15"/>
    <p:sldId id="280" r:id="rId16"/>
    <p:sldId id="271" r:id="rId17"/>
    <p:sldId id="348" r:id="rId18"/>
    <p:sldId id="353" r:id="rId19"/>
    <p:sldId id="349" r:id="rId20"/>
    <p:sldId id="352" r:id="rId21"/>
    <p:sldId id="272" r:id="rId22"/>
    <p:sldId id="273" r:id="rId23"/>
    <p:sldId id="339" r:id="rId24"/>
    <p:sldId id="340" r:id="rId25"/>
    <p:sldId id="341" r:id="rId26"/>
    <p:sldId id="342" r:id="rId27"/>
    <p:sldId id="343" r:id="rId28"/>
    <p:sldId id="354" r:id="rId29"/>
    <p:sldId id="355" r:id="rId30"/>
    <p:sldId id="331" r:id="rId31"/>
    <p:sldId id="332" r:id="rId32"/>
    <p:sldId id="333" r:id="rId33"/>
    <p:sldId id="334" r:id="rId34"/>
    <p:sldId id="335" r:id="rId35"/>
    <p:sldId id="336" r:id="rId36"/>
    <p:sldId id="346" r:id="rId37"/>
    <p:sldId id="347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2323"/>
    <a:srgbClr val="2A2A2A"/>
    <a:srgbClr val="212121"/>
    <a:srgbClr val="262626"/>
    <a:srgbClr val="3A3A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8BF7-18B5-4007-BEA7-CEDB67F2B5B1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167F-2527-4AB3-8F50-D3010F119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61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8BF7-18B5-4007-BEA7-CEDB67F2B5B1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167F-2527-4AB3-8F50-D3010F119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58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8BF7-18B5-4007-BEA7-CEDB67F2B5B1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167F-2527-4AB3-8F50-D3010F119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836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8BF7-18B5-4007-BEA7-CEDB67F2B5B1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167F-2527-4AB3-8F50-D3010F119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819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8BF7-18B5-4007-BEA7-CEDB67F2B5B1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167F-2527-4AB3-8F50-D3010F119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676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8BF7-18B5-4007-BEA7-CEDB67F2B5B1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167F-2527-4AB3-8F50-D3010F119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668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8BF7-18B5-4007-BEA7-CEDB67F2B5B1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167F-2527-4AB3-8F50-D3010F119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411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8BF7-18B5-4007-BEA7-CEDB67F2B5B1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167F-2527-4AB3-8F50-D3010F119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1316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8BF7-18B5-4007-BEA7-CEDB67F2B5B1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167F-2527-4AB3-8F50-D3010F119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53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8BF7-18B5-4007-BEA7-CEDB67F2B5B1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167F-2527-4AB3-8F50-D3010F119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7374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8BF7-18B5-4007-BEA7-CEDB67F2B5B1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167F-2527-4AB3-8F50-D3010F119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789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CB8BF7-18B5-4007-BEA7-CEDB67F2B5B1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9167F-2527-4AB3-8F50-D3010F119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408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TAVANT_Copilot\TOCs\GitHub Copilot for .NET\Day1\p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9668"/>
            <a:ext cx="7915275" cy="278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0490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2050" name="Picture 2" descr="D:\TAVANT_Copilot\TOCs\GitHub Copilot for .NET\Day1\p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360040"/>
            <a:ext cx="9144000" cy="5877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815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 descr="D:\TAVANT_Copilot\TOCs\GitHub Copilot for .NET\Day1\p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404664"/>
            <a:ext cx="9080499" cy="552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9955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 descr="D:\TAVANT_Copilot\TOCs\GitHub Copilot for .NET\Day1\p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176" y="290016"/>
            <a:ext cx="9166176" cy="6523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7018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D:\TAVANT_Copilot\TOCs\GitHub Copilot for .NET\Day1\p6.2_belo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079" y="1760587"/>
            <a:ext cx="7591425" cy="267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775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D:\TAVANT_Copilot\TOCs\GitHub Copilot for .NET\Day1\p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04" y="453727"/>
            <a:ext cx="9080500" cy="5135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4334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76672"/>
            <a:ext cx="8784976" cy="584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8216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D:\TAVANT_Copilot\TOCs\GitHub Copilot for .NET\Day1\p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" y="361925"/>
            <a:ext cx="9080500" cy="486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3380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>
                <a:solidFill>
                  <a:srgbClr val="00B050"/>
                </a:solidFill>
              </a:rPr>
              <a:t>6 </a:t>
            </a:r>
            <a:r>
              <a:rPr lang="en-IN" b="1" dirty="0">
                <a:solidFill>
                  <a:srgbClr val="00B050"/>
                </a:solidFill>
              </a:rPr>
              <a:t>principles of responsible </a:t>
            </a:r>
            <a:r>
              <a:rPr lang="en-IN" b="1" dirty="0" smtClean="0">
                <a:solidFill>
                  <a:srgbClr val="00B050"/>
                </a:solidFill>
              </a:rPr>
              <a:t>AI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Fairness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: AI systems should treat all people fairly.</a:t>
            </a: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Reliability and safety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: AI systems should perform reliably and safely.</a:t>
            </a: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Privacy and security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: AI systems should be secure and respect privacy.</a:t>
            </a: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Inclusiveness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: AI systems should empower everyone and engage people.</a:t>
            </a: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Transparency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: AI systems should be understandable.</a:t>
            </a: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Accountability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: People should be accountable for AI systems.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2825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>
                <a:solidFill>
                  <a:srgbClr val="00B050"/>
                </a:solidFill>
              </a:rPr>
              <a:t>GitHub Copilot user prompt process </a:t>
            </a:r>
            <a:r>
              <a:rPr lang="en-US" sz="3600" dirty="0" smtClean="0">
                <a:solidFill>
                  <a:srgbClr val="00B050"/>
                </a:solidFill>
              </a:rPr>
              <a:t>flow - INBOUND</a:t>
            </a:r>
            <a:endParaRPr lang="en-IN" sz="3600" dirty="0">
              <a:solidFill>
                <a:srgbClr val="00B050"/>
              </a:solidFill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600200"/>
            <a:ext cx="6000502" cy="4925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2000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Proxy </a:t>
            </a:r>
            <a:r>
              <a:rPr lang="en-US" b="1" dirty="0" smtClean="0">
                <a:solidFill>
                  <a:srgbClr val="00B050"/>
                </a:solidFill>
              </a:rPr>
              <a:t>filter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Once </a:t>
            </a:r>
            <a:r>
              <a:rPr lang="en-US" dirty="0">
                <a:solidFill>
                  <a:schemeClr val="bg1"/>
                </a:solidFill>
              </a:rPr>
              <a:t>the context is gathered and the prompt is built, it passes securely to a proxy server hosted in a GitHub-owned Microsoft Azure tenant. 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The </a:t>
            </a:r>
            <a:r>
              <a:rPr lang="en-US" dirty="0">
                <a:solidFill>
                  <a:schemeClr val="bg1"/>
                </a:solidFill>
              </a:rPr>
              <a:t>proxy filters traffic, blocking attempts to hack the prompt or manipulate the system into revealing details about how the model generates code suggestions.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247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00B050"/>
                </a:solidFill>
              </a:rPr>
              <a:t>Toxicity </a:t>
            </a:r>
            <a:r>
              <a:rPr lang="en-IN" b="1" dirty="0" smtClean="0">
                <a:solidFill>
                  <a:srgbClr val="00B050"/>
                </a:solidFill>
              </a:rPr>
              <a:t>filtering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Hate speech and inappropriate content</a:t>
            </a:r>
            <a:r>
              <a:rPr lang="en-US" dirty="0">
                <a:solidFill>
                  <a:schemeClr val="bg1"/>
                </a:solidFill>
              </a:rPr>
              <a:t>: Copilot employs algorithms to detect and prevent the intake of hate speech, offensive language, or inappropriate content that could be harmful or </a:t>
            </a:r>
            <a:r>
              <a:rPr lang="en-US" dirty="0" smtClean="0">
                <a:solidFill>
                  <a:schemeClr val="bg1"/>
                </a:solidFill>
              </a:rPr>
              <a:t>offensive.</a:t>
            </a:r>
          </a:p>
          <a:p>
            <a:r>
              <a:rPr lang="en-US" b="1" dirty="0">
                <a:solidFill>
                  <a:schemeClr val="bg1"/>
                </a:solidFill>
              </a:rPr>
              <a:t>Personal data</a:t>
            </a:r>
            <a:r>
              <a:rPr lang="en-US" dirty="0">
                <a:solidFill>
                  <a:schemeClr val="bg1"/>
                </a:solidFill>
              </a:rPr>
              <a:t>: Copilot actively filters out any personal data, such as names, addresses, or identification numbers, to protect user privacy and data security.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8195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00B050"/>
                </a:solidFill>
              </a:rPr>
              <a:t>Code generation with </a:t>
            </a:r>
            <a:r>
              <a:rPr lang="en-IN" b="1" dirty="0" smtClean="0">
                <a:solidFill>
                  <a:srgbClr val="00B050"/>
                </a:solidFill>
              </a:rPr>
              <a:t>LLM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Finally, the filtered and analyzed prompt is passed to LLM Models, which generate appropriate code suggestions.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1781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solidFill>
                  <a:srgbClr val="00B050"/>
                </a:solidFill>
              </a:rPr>
              <a:t>GitHub Copilot user prompt process flow - </a:t>
            </a:r>
            <a:r>
              <a:rPr lang="en-US" sz="3200" dirty="0" smtClean="0">
                <a:solidFill>
                  <a:srgbClr val="00B050"/>
                </a:solidFill>
              </a:rPr>
              <a:t>OUTBOUND</a:t>
            </a:r>
            <a:endParaRPr lang="en-IN" sz="3200" dirty="0">
              <a:solidFill>
                <a:srgbClr val="00B050"/>
              </a:solidFill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600200"/>
            <a:ext cx="5969987" cy="4949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9970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B050"/>
                </a:solidFill>
              </a:rPr>
              <a:t>OUTBOUND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Once the model produces its responses, the toxicity filter removes any harmful or offensive generated content. The proxy server then applies a final layer of checks to ensure code quality, security, and ethical standards.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4598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B050"/>
                </a:solidFill>
              </a:rPr>
              <a:t>GitHub </a:t>
            </a:r>
            <a:r>
              <a:rPr lang="en-IN" dirty="0" err="1" smtClean="0">
                <a:solidFill>
                  <a:srgbClr val="00B050"/>
                </a:solidFill>
              </a:rPr>
              <a:t>Copilot</a:t>
            </a:r>
            <a:r>
              <a:rPr lang="en-IN" dirty="0" smtClean="0">
                <a:solidFill>
                  <a:srgbClr val="00B050"/>
                </a:solidFill>
              </a:rPr>
              <a:t> Support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GitHub Copilot offers a free tier with 2,000 code autocompletes and 50 chat messages per month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r>
              <a:rPr lang="en-US" dirty="0">
                <a:solidFill>
                  <a:schemeClr val="bg1"/>
                </a:solidFill>
              </a:rPr>
              <a:t>Educators, Students and select open-source maintainers can receive Copilot Pro for free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17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Tokens in AI </a:t>
            </a:r>
            <a:r>
              <a:rPr lang="en-US" b="1" dirty="0" smtClean="0">
                <a:solidFill>
                  <a:srgbClr val="00B050"/>
                </a:solidFill>
              </a:rPr>
              <a:t>Tools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11256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What are Tokens?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Tokens are pieces of text processed by AI systems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C000"/>
                </a:solidFill>
              </a:rPr>
              <a:t>Examples:</a:t>
            </a:r>
            <a:endParaRPr lang="en-IN" dirty="0">
              <a:solidFill>
                <a:srgbClr val="FFC000"/>
              </a:solidFill>
            </a:endParaRPr>
          </a:p>
          <a:p>
            <a:pPr lvl="0"/>
            <a:r>
              <a:rPr lang="en-US" dirty="0">
                <a:solidFill>
                  <a:schemeClr val="bg1"/>
                </a:solidFill>
              </a:rPr>
              <a:t>One word ≈ 1 token</a:t>
            </a:r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US" dirty="0">
                <a:solidFill>
                  <a:schemeClr val="bg1"/>
                </a:solidFill>
              </a:rPr>
              <a:t>Long sentences = more tokens</a:t>
            </a:r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US" dirty="0">
                <a:solidFill>
                  <a:schemeClr val="bg1"/>
                </a:solidFill>
              </a:rPr>
              <a:t>Large logs/errors = huge token </a:t>
            </a:r>
            <a:r>
              <a:rPr lang="en-US" dirty="0" smtClean="0">
                <a:solidFill>
                  <a:schemeClr val="bg1"/>
                </a:solidFill>
              </a:rPr>
              <a:t>consumption</a:t>
            </a:r>
          </a:p>
          <a:p>
            <a:pPr lvl="0"/>
            <a:endParaRPr lang="en-IN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C000"/>
                </a:solidFill>
              </a:rPr>
              <a:t>Efficient token usage improves:</a:t>
            </a:r>
            <a:endParaRPr lang="en-IN" dirty="0">
              <a:solidFill>
                <a:srgbClr val="FFC000"/>
              </a:solidFill>
            </a:endParaRPr>
          </a:p>
          <a:p>
            <a:pPr lvl="0"/>
            <a:r>
              <a:rPr lang="en-US" dirty="0">
                <a:solidFill>
                  <a:schemeClr val="bg1"/>
                </a:solidFill>
              </a:rPr>
              <a:t>Faster responses</a:t>
            </a:r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US" dirty="0">
                <a:solidFill>
                  <a:schemeClr val="bg1"/>
                </a:solidFill>
              </a:rPr>
              <a:t>Better quality outputs</a:t>
            </a:r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US" dirty="0">
                <a:solidFill>
                  <a:schemeClr val="bg1"/>
                </a:solidFill>
              </a:rPr>
              <a:t>Lower AI confusion</a:t>
            </a:r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US" dirty="0">
                <a:solidFill>
                  <a:schemeClr val="bg1"/>
                </a:solidFill>
              </a:rPr>
              <a:t>Better contextual understanding</a:t>
            </a:r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US" dirty="0">
                <a:solidFill>
                  <a:schemeClr val="bg1"/>
                </a:solidFill>
              </a:rPr>
              <a:t>More accurate code generation</a:t>
            </a:r>
            <a:endParaRPr lang="en-IN" dirty="0">
              <a:solidFill>
                <a:schemeClr val="bg1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41487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Copilot context limit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bg1"/>
                </a:solidFill>
              </a:rPr>
              <a:t>Copilot context limit </a:t>
            </a:r>
            <a:r>
              <a:rPr lang="en-US" dirty="0" smtClean="0">
                <a:solidFill>
                  <a:schemeClr val="bg1"/>
                </a:solidFill>
              </a:rPr>
              <a:t>- what </a:t>
            </a:r>
            <a:r>
              <a:rPr lang="en-US" dirty="0">
                <a:solidFill>
                  <a:schemeClr val="bg1"/>
                </a:solidFill>
              </a:rPr>
              <a:t>it means for you</a:t>
            </a:r>
            <a:r>
              <a:rPr lang="en-US" dirty="0" smtClean="0">
                <a:solidFill>
                  <a:schemeClr val="bg1"/>
                </a:solidFill>
              </a:rPr>
              <a:t>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It depicts the Copilot limitations.</a:t>
            </a:r>
          </a:p>
          <a:p>
            <a:r>
              <a:rPr lang="en-US" dirty="0">
                <a:solidFill>
                  <a:schemeClr val="bg1"/>
                </a:solidFill>
              </a:rPr>
              <a:t>It basically represents the data it </a:t>
            </a:r>
            <a:r>
              <a:rPr lang="en-US" dirty="0" smtClean="0">
                <a:solidFill>
                  <a:schemeClr val="bg1"/>
                </a:solidFill>
              </a:rPr>
              <a:t>can </a:t>
            </a:r>
            <a:r>
              <a:rPr lang="en-US" dirty="0">
                <a:solidFill>
                  <a:schemeClr val="bg1"/>
                </a:solidFill>
              </a:rPr>
              <a:t>receive and return back in one request.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Poor </a:t>
            </a:r>
            <a:r>
              <a:rPr lang="en-US" dirty="0">
                <a:solidFill>
                  <a:schemeClr val="bg1"/>
                </a:solidFill>
              </a:rPr>
              <a:t>performance on large requests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Refactoring </a:t>
            </a:r>
            <a:r>
              <a:rPr lang="en-US" dirty="0">
                <a:solidFill>
                  <a:schemeClr val="bg1"/>
                </a:solidFill>
              </a:rPr>
              <a:t>-not possible</a:t>
            </a:r>
          </a:p>
          <a:p>
            <a:pPr lvl="2"/>
            <a:r>
              <a:rPr lang="en-US" dirty="0" smtClean="0">
                <a:solidFill>
                  <a:srgbClr val="FFC000"/>
                </a:solidFill>
              </a:rPr>
              <a:t>Better </a:t>
            </a:r>
            <a:r>
              <a:rPr lang="en-US" dirty="0">
                <a:solidFill>
                  <a:srgbClr val="FFC000"/>
                </a:solidFill>
              </a:rPr>
              <a:t>use the IDE refactoring capability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Error </a:t>
            </a:r>
            <a:r>
              <a:rPr lang="en-US" dirty="0">
                <a:solidFill>
                  <a:schemeClr val="bg1"/>
                </a:solidFill>
              </a:rPr>
              <a:t>search inside workspace - not possible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Tasks </a:t>
            </a:r>
            <a:r>
              <a:rPr lang="en-US" dirty="0">
                <a:solidFill>
                  <a:schemeClr val="bg1"/>
                </a:solidFill>
              </a:rPr>
              <a:t>for copilot should be as small as possible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3661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Golden Rule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641379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00"/>
                </a:solidFill>
              </a:rPr>
              <a:t>“Provide Context, Not Noise”</a:t>
            </a:r>
            <a:endParaRPr lang="en-IN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C000"/>
                </a:solidFill>
              </a:rPr>
              <a:t>Good prompts:</a:t>
            </a:r>
            <a:endParaRPr lang="en-IN" dirty="0">
              <a:solidFill>
                <a:srgbClr val="FFC000"/>
              </a:solidFill>
            </a:endParaRPr>
          </a:p>
          <a:p>
            <a:pPr lvl="0"/>
            <a:r>
              <a:rPr lang="en-US" dirty="0">
                <a:solidFill>
                  <a:schemeClr val="bg1"/>
                </a:solidFill>
              </a:rPr>
              <a:t>Give structured information</a:t>
            </a:r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US" dirty="0">
                <a:solidFill>
                  <a:schemeClr val="bg1"/>
                </a:solidFill>
              </a:rPr>
              <a:t>Provide only relevant details</a:t>
            </a:r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US" dirty="0">
                <a:solidFill>
                  <a:schemeClr val="bg1"/>
                </a:solidFill>
              </a:rPr>
              <a:t>Focus on business </a:t>
            </a:r>
            <a:r>
              <a:rPr lang="en-US" dirty="0" smtClean="0">
                <a:solidFill>
                  <a:schemeClr val="bg1"/>
                </a:solidFill>
              </a:rPr>
              <a:t>objective</a:t>
            </a:r>
          </a:p>
          <a:p>
            <a:pPr lvl="0"/>
            <a:endParaRPr lang="en-IN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C000"/>
                </a:solidFill>
              </a:rPr>
              <a:t>Bad prompts:</a:t>
            </a:r>
            <a:endParaRPr lang="en-IN" dirty="0">
              <a:solidFill>
                <a:srgbClr val="FFC000"/>
              </a:solidFill>
            </a:endParaRPr>
          </a:p>
          <a:p>
            <a:pPr lvl="0"/>
            <a:r>
              <a:rPr lang="en-US" dirty="0">
                <a:solidFill>
                  <a:schemeClr val="bg1"/>
                </a:solidFill>
              </a:rPr>
              <a:t>Dump entire codebase</a:t>
            </a:r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US" dirty="0">
                <a:solidFill>
                  <a:schemeClr val="bg1"/>
                </a:solidFill>
              </a:rPr>
              <a:t>Share full logs unnecessarily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Ask vague questions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54218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Copilot context limit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bg1"/>
                </a:solidFill>
              </a:rPr>
              <a:t>Websites:</a:t>
            </a:r>
          </a:p>
          <a:p>
            <a:pPr lvl="1"/>
            <a:r>
              <a:rPr lang="en-IN" dirty="0" err="1" smtClean="0">
                <a:solidFill>
                  <a:schemeClr val="bg1"/>
                </a:solidFill>
              </a:rPr>
              <a:t>OpenAi</a:t>
            </a:r>
            <a:r>
              <a:rPr lang="en-IN" dirty="0" smtClean="0">
                <a:solidFill>
                  <a:schemeClr val="bg1"/>
                </a:solidFill>
              </a:rPr>
              <a:t> Tokenizer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AI Analysis LLM Performance leaderboard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7129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B050"/>
                </a:solidFill>
              </a:rPr>
              <a:t>Languages and Framework Support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chemeClr val="bg1"/>
                </a:solidFill>
              </a:rPr>
              <a:t>GitHub Copilot provides robust support for a wide range of programming languages and frameworks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rgbClr val="FFC000"/>
                </a:solidFill>
              </a:rPr>
              <a:t>-Python</a:t>
            </a:r>
          </a:p>
          <a:p>
            <a:r>
              <a:rPr lang="en-IN" dirty="0">
                <a:solidFill>
                  <a:srgbClr val="FFC000"/>
                </a:solidFill>
              </a:rPr>
              <a:t>-JavaScript</a:t>
            </a:r>
          </a:p>
          <a:p>
            <a:r>
              <a:rPr lang="en-IN" dirty="0">
                <a:solidFill>
                  <a:srgbClr val="FFC000"/>
                </a:solidFill>
              </a:rPr>
              <a:t>-Java</a:t>
            </a:r>
          </a:p>
          <a:p>
            <a:r>
              <a:rPr lang="en-IN" dirty="0">
                <a:solidFill>
                  <a:srgbClr val="FFC000"/>
                </a:solidFill>
              </a:rPr>
              <a:t>-</a:t>
            </a:r>
            <a:r>
              <a:rPr lang="en-IN" dirty="0" err="1">
                <a:solidFill>
                  <a:srgbClr val="FFC000"/>
                </a:solidFill>
              </a:rPr>
              <a:t>TypeScript</a:t>
            </a:r>
            <a:endParaRPr lang="en-IN" dirty="0">
              <a:solidFill>
                <a:srgbClr val="FFC000"/>
              </a:solidFill>
            </a:endParaRPr>
          </a:p>
          <a:p>
            <a:r>
              <a:rPr lang="en-IN" dirty="0">
                <a:solidFill>
                  <a:srgbClr val="FFC000"/>
                </a:solidFill>
              </a:rPr>
              <a:t>-Ruby</a:t>
            </a:r>
          </a:p>
          <a:p>
            <a:r>
              <a:rPr lang="en-IN" dirty="0">
                <a:solidFill>
                  <a:srgbClr val="FFC000"/>
                </a:solidFill>
              </a:rPr>
              <a:t>-Go</a:t>
            </a:r>
          </a:p>
          <a:p>
            <a:r>
              <a:rPr lang="en-IN" dirty="0">
                <a:solidFill>
                  <a:srgbClr val="FFC000"/>
                </a:solidFill>
              </a:rPr>
              <a:t>-C#</a:t>
            </a:r>
          </a:p>
          <a:p>
            <a:r>
              <a:rPr lang="en-IN" dirty="0">
                <a:solidFill>
                  <a:srgbClr val="FFC000"/>
                </a:solidFill>
              </a:rPr>
              <a:t>-C</a:t>
            </a:r>
            <a:r>
              <a:rPr lang="en-IN" dirty="0" smtClean="0">
                <a:solidFill>
                  <a:srgbClr val="FFC000"/>
                </a:solidFill>
              </a:rPr>
              <a:t>++ and so on</a:t>
            </a:r>
            <a:endParaRPr lang="en-IN" dirty="0">
              <a:solidFill>
                <a:srgbClr val="FFC00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00375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55780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B050"/>
                </a:solidFill>
              </a:rPr>
              <a:t>Copilot can work with various types of comments to inform its </a:t>
            </a:r>
            <a:r>
              <a:rPr lang="en-US" dirty="0" smtClean="0">
                <a:solidFill>
                  <a:srgbClr val="00B050"/>
                </a:solidFill>
              </a:rPr>
              <a:t>suggestions</a:t>
            </a:r>
            <a:r>
              <a:rPr lang="en-US" dirty="0">
                <a:solidFill>
                  <a:srgbClr val="00B050"/>
                </a:solidFill>
              </a:rPr>
              <a:t/>
            </a:r>
            <a:br>
              <a:rPr lang="en-US" dirty="0">
                <a:solidFill>
                  <a:srgbClr val="00B050"/>
                </a:solidFill>
              </a:rPr>
            </a:b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</a:t>
            </a:r>
            <a:r>
              <a:rPr lang="en-US" dirty="0">
                <a:solidFill>
                  <a:schemeClr val="bg1"/>
                </a:solidFill>
              </a:rPr>
              <a:t>Inline comments: Short explanations next to specific lines of code.</a:t>
            </a:r>
          </a:p>
          <a:p>
            <a:r>
              <a:rPr lang="en-US" dirty="0">
                <a:solidFill>
                  <a:schemeClr val="bg1"/>
                </a:solidFill>
              </a:rPr>
              <a:t>-Block comments: Longer explanations that might describe a function or class.</a:t>
            </a:r>
          </a:p>
          <a:p>
            <a:r>
              <a:rPr lang="en-US" smtClean="0">
                <a:solidFill>
                  <a:schemeClr val="bg1"/>
                </a:solidFill>
              </a:rPr>
              <a:t>-</a:t>
            </a:r>
            <a:r>
              <a:rPr lang="en-US" dirty="0">
                <a:solidFill>
                  <a:schemeClr val="bg1"/>
                </a:solidFill>
              </a:rPr>
              <a:t>TODO comments: Notes about future implementations or improvements.</a:t>
            </a:r>
          </a:p>
          <a:p>
            <a:r>
              <a:rPr lang="en-US" dirty="0">
                <a:solidFill>
                  <a:schemeClr val="bg1"/>
                </a:solidFill>
              </a:rPr>
              <a:t>-API Documentation: Comments that describe the usage and parameters of functions or methods.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11799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Prompt engineering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is Prompt Engineering?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Prompt </a:t>
            </a:r>
            <a:r>
              <a:rPr lang="en-US" dirty="0">
                <a:solidFill>
                  <a:schemeClr val="bg1"/>
                </a:solidFill>
              </a:rPr>
              <a:t>engineering </a:t>
            </a:r>
            <a:r>
              <a:rPr lang="en-US" dirty="0" smtClean="0">
                <a:solidFill>
                  <a:schemeClr val="bg1"/>
                </a:solidFill>
              </a:rPr>
              <a:t>principles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Best practices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7292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What is prompt engineering</a:t>
            </a:r>
            <a:r>
              <a:rPr lang="en-US" dirty="0" smtClean="0">
                <a:solidFill>
                  <a:srgbClr val="00B050"/>
                </a:solidFill>
              </a:rPr>
              <a:t>?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Prompt </a:t>
            </a:r>
            <a:r>
              <a:rPr lang="en-US" dirty="0">
                <a:solidFill>
                  <a:schemeClr val="bg1"/>
                </a:solidFill>
              </a:rPr>
              <a:t>engineering is the process of crafting clear instructions to guide AI systems, like GitHub Copilot, to generate context-appropriate code tailored to your project's specific needs. 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This </a:t>
            </a:r>
            <a:r>
              <a:rPr lang="en-US" dirty="0">
                <a:solidFill>
                  <a:schemeClr val="bg1"/>
                </a:solidFill>
              </a:rPr>
              <a:t>ensures the code is syntactically, functionally, and contextually correct.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0503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B050"/>
                </a:solidFill>
              </a:rPr>
              <a:t>Principles of prompt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4 S rules of creating effective </a:t>
            </a:r>
            <a:r>
              <a:rPr lang="en-IN" dirty="0" smtClean="0">
                <a:solidFill>
                  <a:schemeClr val="bg1"/>
                </a:solidFill>
              </a:rPr>
              <a:t>prompts</a:t>
            </a:r>
          </a:p>
          <a:p>
            <a:r>
              <a:rPr lang="en-IN" dirty="0">
                <a:solidFill>
                  <a:schemeClr val="bg1"/>
                </a:solidFill>
              </a:rPr>
              <a:t>-</a:t>
            </a:r>
            <a:r>
              <a:rPr lang="en-IN" dirty="0" smtClean="0">
                <a:solidFill>
                  <a:schemeClr val="bg1"/>
                </a:solidFill>
              </a:rPr>
              <a:t>Single</a:t>
            </a:r>
          </a:p>
          <a:p>
            <a:r>
              <a:rPr lang="en-IN" dirty="0">
                <a:solidFill>
                  <a:schemeClr val="bg1"/>
                </a:solidFill>
              </a:rPr>
              <a:t>-</a:t>
            </a:r>
            <a:r>
              <a:rPr lang="en-IN" dirty="0" smtClean="0">
                <a:solidFill>
                  <a:schemeClr val="bg1"/>
                </a:solidFill>
              </a:rPr>
              <a:t>Specific</a:t>
            </a:r>
          </a:p>
          <a:p>
            <a:r>
              <a:rPr lang="en-IN" dirty="0">
                <a:solidFill>
                  <a:schemeClr val="bg1"/>
                </a:solidFill>
              </a:rPr>
              <a:t>-</a:t>
            </a:r>
            <a:r>
              <a:rPr lang="en-IN" dirty="0" smtClean="0">
                <a:solidFill>
                  <a:schemeClr val="bg1"/>
                </a:solidFill>
              </a:rPr>
              <a:t>Short</a:t>
            </a:r>
          </a:p>
          <a:p>
            <a:r>
              <a:rPr lang="en-IN" dirty="0">
                <a:solidFill>
                  <a:schemeClr val="bg1"/>
                </a:solidFill>
              </a:rPr>
              <a:t>-Surround</a:t>
            </a:r>
          </a:p>
        </p:txBody>
      </p:sp>
    </p:spTree>
    <p:extLst>
      <p:ext uri="{BB962C8B-B14F-4D97-AF65-F5344CB8AC3E}">
        <p14:creationId xmlns:p14="http://schemas.microsoft.com/office/powerpoint/2010/main" val="1710150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B050"/>
                </a:solidFill>
              </a:rPr>
              <a:t>Best practices in prompt engineering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1)Provide enough </a:t>
            </a:r>
            <a:r>
              <a:rPr lang="en-IN" dirty="0" smtClean="0">
                <a:solidFill>
                  <a:schemeClr val="bg1"/>
                </a:solidFill>
              </a:rPr>
              <a:t>clarity</a:t>
            </a:r>
          </a:p>
          <a:p>
            <a:r>
              <a:rPr lang="en-US" dirty="0">
                <a:solidFill>
                  <a:schemeClr val="bg1"/>
                </a:solidFill>
              </a:rPr>
              <a:t>2) Provide enough context with </a:t>
            </a:r>
            <a:r>
              <a:rPr lang="en-US" dirty="0" smtClean="0">
                <a:solidFill>
                  <a:schemeClr val="bg1"/>
                </a:solidFill>
              </a:rPr>
              <a:t>details</a:t>
            </a:r>
          </a:p>
          <a:p>
            <a:r>
              <a:rPr lang="en-US" dirty="0">
                <a:solidFill>
                  <a:schemeClr val="bg1"/>
                </a:solidFill>
              </a:rPr>
              <a:t>3) Provide examples for </a:t>
            </a:r>
            <a:r>
              <a:rPr lang="en-US" dirty="0" smtClean="0">
                <a:solidFill>
                  <a:schemeClr val="bg1"/>
                </a:solidFill>
              </a:rPr>
              <a:t>learning</a:t>
            </a:r>
          </a:p>
          <a:p>
            <a:r>
              <a:rPr lang="en-IN" dirty="0">
                <a:solidFill>
                  <a:schemeClr val="bg1"/>
                </a:solidFill>
              </a:rPr>
              <a:t>4) Assert and iterate</a:t>
            </a:r>
          </a:p>
        </p:txBody>
      </p:sp>
    </p:spTree>
    <p:extLst>
      <p:ext uri="{BB962C8B-B14F-4D97-AF65-F5344CB8AC3E}">
        <p14:creationId xmlns:p14="http://schemas.microsoft.com/office/powerpoint/2010/main" val="3650727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B050"/>
                </a:solidFill>
              </a:rPr>
              <a:t>How Copilot learns from your prompts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Zero-shot </a:t>
            </a:r>
            <a:r>
              <a:rPr lang="en-IN" dirty="0" smtClean="0">
                <a:solidFill>
                  <a:schemeClr val="bg1"/>
                </a:solidFill>
              </a:rPr>
              <a:t>learning</a:t>
            </a:r>
          </a:p>
          <a:p>
            <a:r>
              <a:rPr lang="en-IN" dirty="0">
                <a:solidFill>
                  <a:schemeClr val="bg1"/>
                </a:solidFill>
              </a:rPr>
              <a:t>One-shot </a:t>
            </a:r>
            <a:r>
              <a:rPr lang="en-IN" dirty="0" smtClean="0">
                <a:solidFill>
                  <a:schemeClr val="bg1"/>
                </a:solidFill>
              </a:rPr>
              <a:t>learning</a:t>
            </a:r>
          </a:p>
          <a:p>
            <a:r>
              <a:rPr lang="en-IN" dirty="0">
                <a:solidFill>
                  <a:schemeClr val="bg1"/>
                </a:solidFill>
              </a:rPr>
              <a:t>Few-shot </a:t>
            </a:r>
            <a:r>
              <a:rPr lang="en-IN" dirty="0" smtClean="0">
                <a:solidFill>
                  <a:schemeClr val="bg1"/>
                </a:solidFill>
              </a:rPr>
              <a:t>learning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316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General AI Prompting Best Practices</a:t>
            </a:r>
            <a:endParaRPr lang="en-IN" dirty="0">
              <a:solidFill>
                <a:srgbClr val="00B050"/>
              </a:solidFill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6626826"/>
              </p:ext>
            </p:extLst>
          </p:nvPr>
        </p:nvGraphicFramePr>
        <p:xfrm>
          <a:off x="457200" y="1700808"/>
          <a:ext cx="8229600" cy="4447794"/>
        </p:xfrm>
        <a:graphic>
          <a:graphicData uri="http://schemas.openxmlformats.org/drawingml/2006/table">
            <a:tbl>
              <a:tblPr firstRow="1" firstCol="1" bandRow="1"/>
              <a:tblGrid>
                <a:gridCol w="4114800"/>
                <a:gridCol w="4114800"/>
              </a:tblGrid>
              <a:tr h="3760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b="1" kern="0" dirty="0">
                          <a:solidFill>
                            <a:srgbClr val="FFFF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Good Practice</a:t>
                      </a:r>
                      <a:endParaRPr lang="en-IN" sz="2800" kern="100" dirty="0">
                        <a:solidFill>
                          <a:srgbClr val="FFFF00"/>
                        </a:solidFill>
                        <a:effectLst/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b="1" kern="0" dirty="0">
                          <a:solidFill>
                            <a:srgbClr val="FFFF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Why It Helps</a:t>
                      </a:r>
                      <a:endParaRPr lang="en-IN" sz="2800" kern="100" dirty="0">
                        <a:solidFill>
                          <a:srgbClr val="FFFF00"/>
                        </a:solidFill>
                        <a:effectLst/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3760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Be specific</a:t>
                      </a:r>
                      <a:endParaRPr lang="en-IN" sz="2400" kern="100" dirty="0">
                        <a:solidFill>
                          <a:schemeClr val="bg1"/>
                        </a:solidFill>
                        <a:effectLst/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Reduces ambiguity</a:t>
                      </a:r>
                      <a:endParaRPr lang="en-IN" sz="2400" kern="100" dirty="0">
                        <a:solidFill>
                          <a:schemeClr val="bg1"/>
                        </a:solidFill>
                        <a:effectLst/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3760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Mention technology stack</a:t>
                      </a:r>
                      <a:endParaRPr lang="en-IN" sz="2400" kern="100" dirty="0">
                        <a:solidFill>
                          <a:schemeClr val="bg1"/>
                        </a:solidFill>
                        <a:effectLst/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Improves code accuracy</a:t>
                      </a:r>
                      <a:endParaRPr lang="en-IN" sz="2400" kern="100" dirty="0">
                        <a:solidFill>
                          <a:schemeClr val="bg1"/>
                        </a:solidFill>
                        <a:effectLst/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3760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Mention expected output</a:t>
                      </a:r>
                      <a:endParaRPr lang="en-IN" sz="2400" kern="100" dirty="0">
                        <a:solidFill>
                          <a:schemeClr val="bg1"/>
                        </a:solidFill>
                        <a:effectLst/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Gives direction</a:t>
                      </a:r>
                      <a:endParaRPr lang="en-IN" sz="2400" kern="100" dirty="0">
                        <a:solidFill>
                          <a:schemeClr val="bg1"/>
                        </a:solidFill>
                        <a:effectLst/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3760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Provide sample input/output</a:t>
                      </a:r>
                      <a:endParaRPr lang="en-IN" sz="2400" kern="100" dirty="0">
                        <a:solidFill>
                          <a:schemeClr val="bg1"/>
                        </a:solidFill>
                        <a:effectLst/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Helps Copilot understand intent</a:t>
                      </a:r>
                      <a:endParaRPr lang="en-IN" sz="2400" kern="100" dirty="0">
                        <a:solidFill>
                          <a:schemeClr val="bg1"/>
                        </a:solidFill>
                        <a:effectLst/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3760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Break large tasks into smaller prompts</a:t>
                      </a:r>
                      <a:endParaRPr lang="en-IN" sz="2400" kern="100" dirty="0">
                        <a:solidFill>
                          <a:schemeClr val="bg1"/>
                        </a:solidFill>
                        <a:effectLst/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Better quality responses</a:t>
                      </a:r>
                      <a:endParaRPr lang="en-IN" sz="2400" kern="100" dirty="0">
                        <a:solidFill>
                          <a:schemeClr val="bg1"/>
                        </a:solidFill>
                        <a:effectLst/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3760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Use iterative prompting</a:t>
                      </a:r>
                      <a:endParaRPr lang="en-IN" sz="2400" kern="100" dirty="0">
                        <a:solidFill>
                          <a:schemeClr val="bg1"/>
                        </a:solidFill>
                        <a:effectLst/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Refine output gradually</a:t>
                      </a:r>
                      <a:endParaRPr lang="en-IN" sz="2400" kern="100" dirty="0">
                        <a:solidFill>
                          <a:schemeClr val="bg1"/>
                        </a:solidFill>
                        <a:effectLst/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3760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Mention constraints</a:t>
                      </a:r>
                      <a:endParaRPr lang="en-IN" sz="2400" kern="100" dirty="0">
                        <a:solidFill>
                          <a:schemeClr val="bg1"/>
                        </a:solidFill>
                        <a:effectLst/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Avoids generic solutions</a:t>
                      </a:r>
                      <a:endParaRPr lang="en-IN" sz="2400" kern="100" dirty="0">
                        <a:solidFill>
                          <a:schemeClr val="bg1"/>
                        </a:solidFill>
                        <a:effectLst/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3760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Mention coding standards</a:t>
                      </a:r>
                      <a:endParaRPr lang="en-IN" sz="2400" kern="100" dirty="0">
                        <a:solidFill>
                          <a:schemeClr val="bg1"/>
                        </a:solidFill>
                        <a:effectLst/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Produces production-ready code</a:t>
                      </a:r>
                      <a:endParaRPr lang="en-IN" sz="2400" kern="100" dirty="0">
                        <a:solidFill>
                          <a:schemeClr val="bg1"/>
                        </a:solidFill>
                        <a:effectLst/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8828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Common Mistakes While Using Copilot</a:t>
            </a:r>
            <a:endParaRPr lang="en-IN" dirty="0">
              <a:solidFill>
                <a:srgbClr val="00B05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0040458"/>
              </p:ext>
            </p:extLst>
          </p:nvPr>
        </p:nvGraphicFramePr>
        <p:xfrm>
          <a:off x="457200" y="1988840"/>
          <a:ext cx="8229600" cy="40782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kern="0" dirty="0">
                          <a:solidFill>
                            <a:srgbClr val="FFFF00"/>
                          </a:solidFill>
                          <a:effectLst/>
                        </a:rPr>
                        <a:t>Mistake</a:t>
                      </a:r>
                      <a:endParaRPr lang="en-IN" sz="3200" kern="100" dirty="0">
                        <a:solidFill>
                          <a:srgbClr val="FFFF00"/>
                        </a:solidFill>
                        <a:effectLst/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kern="0" dirty="0">
                          <a:solidFill>
                            <a:srgbClr val="FFFF00"/>
                          </a:solidFill>
                          <a:effectLst/>
                        </a:rPr>
                        <a:t>Problem</a:t>
                      </a:r>
                      <a:endParaRPr lang="en-IN" sz="3200" kern="100" dirty="0">
                        <a:solidFill>
                          <a:srgbClr val="FFFF00"/>
                        </a:solidFill>
                        <a:effectLst/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rgbClr val="0070C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0" kern="0">
                          <a:solidFill>
                            <a:schemeClr val="bg1"/>
                          </a:solidFill>
                          <a:effectLst/>
                        </a:rPr>
                        <a:t>Very large prompts</a:t>
                      </a:r>
                      <a:endParaRPr lang="en-IN" sz="2400" b="0" kern="100">
                        <a:solidFill>
                          <a:schemeClr val="bg1"/>
                        </a:solidFill>
                        <a:effectLst/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0" kern="0" dirty="0">
                          <a:solidFill>
                            <a:schemeClr val="bg1"/>
                          </a:solidFill>
                          <a:effectLst/>
                        </a:rPr>
                        <a:t>Context confusion</a:t>
                      </a:r>
                      <a:endParaRPr lang="en-IN" sz="2400" b="0" kern="100" dirty="0">
                        <a:solidFill>
                          <a:schemeClr val="bg1"/>
                        </a:solidFill>
                        <a:effectLst/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rgbClr val="0070C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0" kern="0" dirty="0">
                          <a:solidFill>
                            <a:schemeClr val="bg1"/>
                          </a:solidFill>
                          <a:effectLst/>
                        </a:rPr>
                        <a:t>Dumping full stack traces</a:t>
                      </a:r>
                      <a:endParaRPr lang="en-IN" sz="2400" b="0" kern="100" dirty="0">
                        <a:solidFill>
                          <a:schemeClr val="bg1"/>
                        </a:solidFill>
                        <a:effectLst/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0" kern="0" dirty="0">
                          <a:solidFill>
                            <a:schemeClr val="bg1"/>
                          </a:solidFill>
                          <a:effectLst/>
                        </a:rPr>
                        <a:t>Wastes tokens</a:t>
                      </a:r>
                      <a:endParaRPr lang="en-IN" sz="2400" b="0" kern="100" dirty="0">
                        <a:solidFill>
                          <a:schemeClr val="bg1"/>
                        </a:solidFill>
                        <a:effectLst/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rgbClr val="0070C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0" kern="0" dirty="0">
                          <a:solidFill>
                            <a:schemeClr val="bg1"/>
                          </a:solidFill>
                          <a:effectLst/>
                        </a:rPr>
                        <a:t>Asking multiple unrelated questions</a:t>
                      </a:r>
                      <a:endParaRPr lang="en-IN" sz="2400" b="0" kern="100" dirty="0">
                        <a:solidFill>
                          <a:schemeClr val="bg1"/>
                        </a:solidFill>
                        <a:effectLst/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0" kern="0" dirty="0">
                          <a:solidFill>
                            <a:schemeClr val="bg1"/>
                          </a:solidFill>
                          <a:effectLst/>
                        </a:rPr>
                        <a:t>Mixed output</a:t>
                      </a:r>
                      <a:endParaRPr lang="en-IN" sz="2400" b="0" kern="100" dirty="0">
                        <a:solidFill>
                          <a:schemeClr val="bg1"/>
                        </a:solidFill>
                        <a:effectLst/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rgbClr val="0070C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0" kern="0" dirty="0">
                          <a:solidFill>
                            <a:schemeClr val="bg1"/>
                          </a:solidFill>
                          <a:effectLst/>
                        </a:rPr>
                        <a:t>No architecture context</a:t>
                      </a:r>
                      <a:endParaRPr lang="en-IN" sz="2400" b="0" kern="100" dirty="0">
                        <a:solidFill>
                          <a:schemeClr val="bg1"/>
                        </a:solidFill>
                        <a:effectLst/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0" kern="0" dirty="0">
                          <a:solidFill>
                            <a:schemeClr val="bg1"/>
                          </a:solidFill>
                          <a:effectLst/>
                        </a:rPr>
                        <a:t>Generic code</a:t>
                      </a:r>
                      <a:endParaRPr lang="en-IN" sz="2400" b="0" kern="100" dirty="0">
                        <a:solidFill>
                          <a:schemeClr val="bg1"/>
                        </a:solidFill>
                        <a:effectLst/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rgbClr val="0070C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0" kern="0">
                          <a:solidFill>
                            <a:schemeClr val="bg1"/>
                          </a:solidFill>
                          <a:effectLst/>
                        </a:rPr>
                        <a:t>No validation requirements</a:t>
                      </a:r>
                      <a:endParaRPr lang="en-IN" sz="2400" b="0" kern="100">
                        <a:solidFill>
                          <a:schemeClr val="bg1"/>
                        </a:solidFill>
                        <a:effectLst/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0" kern="0" dirty="0">
                          <a:solidFill>
                            <a:schemeClr val="bg1"/>
                          </a:solidFill>
                          <a:effectLst/>
                        </a:rPr>
                        <a:t>Weak implementation</a:t>
                      </a:r>
                      <a:endParaRPr lang="en-IN" sz="2400" b="0" kern="100" dirty="0">
                        <a:solidFill>
                          <a:schemeClr val="bg1"/>
                        </a:solidFill>
                        <a:effectLst/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rgbClr val="0070C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0" kern="0">
                          <a:solidFill>
                            <a:schemeClr val="bg1"/>
                          </a:solidFill>
                          <a:effectLst/>
                        </a:rPr>
                        <a:t>No security instructions</a:t>
                      </a:r>
                      <a:endParaRPr lang="en-IN" sz="2400" b="0" kern="100">
                        <a:solidFill>
                          <a:schemeClr val="bg1"/>
                        </a:solidFill>
                        <a:effectLst/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0" kern="0" dirty="0">
                          <a:solidFill>
                            <a:schemeClr val="bg1"/>
                          </a:solidFill>
                          <a:effectLst/>
                        </a:rPr>
                        <a:t>Vulnerable code</a:t>
                      </a:r>
                      <a:endParaRPr lang="en-IN" sz="2400" b="0" kern="100" dirty="0">
                        <a:solidFill>
                          <a:schemeClr val="bg1"/>
                        </a:solidFill>
                        <a:effectLst/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rgbClr val="0070C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0" kern="0">
                          <a:solidFill>
                            <a:schemeClr val="bg1"/>
                          </a:solidFill>
                          <a:effectLst/>
                        </a:rPr>
                        <a:t>Blindly accepting suggestions</a:t>
                      </a:r>
                      <a:endParaRPr lang="en-IN" sz="2400" b="0" kern="100">
                        <a:solidFill>
                          <a:schemeClr val="bg1"/>
                        </a:solidFill>
                        <a:effectLst/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0" kern="0" dirty="0">
                          <a:solidFill>
                            <a:schemeClr val="bg1"/>
                          </a:solidFill>
                          <a:effectLst/>
                        </a:rPr>
                        <a:t>Risky implementation</a:t>
                      </a:r>
                      <a:endParaRPr lang="en-IN" sz="2400" b="0" kern="100" dirty="0">
                        <a:solidFill>
                          <a:schemeClr val="bg1"/>
                        </a:solidFill>
                        <a:effectLst/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97313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>
                <a:solidFill>
                  <a:srgbClr val="00B050"/>
                </a:solidFill>
              </a:rPr>
              <a:t>Code Development features of GitHub Copilot</a:t>
            </a:r>
            <a:endParaRPr lang="en-IN" sz="3200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GitHub Copilot tools in Visual Studio 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Code</a:t>
            </a:r>
          </a:p>
          <a:p>
            <a:r>
              <a:rPr lang="en-US" b="1" dirty="0">
                <a:solidFill>
                  <a:srgbClr val="FFC000"/>
                </a:solidFill>
              </a:rPr>
              <a:t>Code line completions</a:t>
            </a:r>
            <a:r>
              <a:rPr lang="en-US" dirty="0">
                <a:solidFill>
                  <a:schemeClr val="bg1"/>
                </a:solidFill>
              </a:rPr>
              <a:t>: Use code line completions to write code more efficiently.</a:t>
            </a:r>
          </a:p>
          <a:p>
            <a:r>
              <a:rPr lang="en-US" b="1" dirty="0">
                <a:solidFill>
                  <a:srgbClr val="FFC000"/>
                </a:solidFill>
              </a:rPr>
              <a:t>Inline chat</a:t>
            </a:r>
            <a:r>
              <a:rPr lang="en-US" dirty="0">
                <a:solidFill>
                  <a:schemeClr val="bg1"/>
                </a:solidFill>
              </a:rPr>
              <a:t>: Start an inline chat conversation directly from the editor for help while you're coding.</a:t>
            </a:r>
          </a:p>
          <a:p>
            <a:r>
              <a:rPr lang="en-US" b="1" dirty="0">
                <a:solidFill>
                  <a:srgbClr val="FFC000"/>
                </a:solidFill>
              </a:rPr>
              <a:t>Chat view</a:t>
            </a:r>
            <a:r>
              <a:rPr lang="en-US" dirty="0">
                <a:solidFill>
                  <a:schemeClr val="bg1"/>
                </a:solidFill>
              </a:rPr>
              <a:t>: Open an AI assistant on the side that can help you at any time.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5250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Examine GitHub Copilot best </a:t>
            </a:r>
            <a:r>
              <a:rPr lang="en-US" b="1" dirty="0" smtClean="0">
                <a:solidFill>
                  <a:srgbClr val="00B050"/>
                </a:solidFill>
              </a:rPr>
              <a:t>practices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5325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bg1"/>
                </a:solidFill>
              </a:rPr>
              <a:t>GitHub Copilot is an AI pair programmer, it's not a programmer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GitHub Copilot is a powerful tool that can help you write code faster and with fewer errors. 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However</a:t>
            </a:r>
            <a:r>
              <a:rPr lang="en-US" dirty="0">
                <a:solidFill>
                  <a:schemeClr val="bg1"/>
                </a:solidFill>
              </a:rPr>
              <a:t>, to get the most out of GitHub Copilot, you need to follow best practices. 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By </a:t>
            </a:r>
            <a:r>
              <a:rPr lang="en-US" dirty="0">
                <a:solidFill>
                  <a:schemeClr val="bg1"/>
                </a:solidFill>
              </a:rPr>
              <a:t>choosing the right Copilot tool for the job, providing context, and following good coding practices, you can optimize your experience with GitHub Copilot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79819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B050"/>
                </a:solidFill>
              </a:rPr>
              <a:t>Best Practices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C000"/>
                </a:solidFill>
              </a:rPr>
              <a:t>Code completions provide the most value when they're used to:</a:t>
            </a:r>
          </a:p>
          <a:p>
            <a:r>
              <a:rPr lang="en-US" dirty="0">
                <a:solidFill>
                  <a:schemeClr val="bg1"/>
                </a:solidFill>
              </a:rPr>
              <a:t>Complete code snippets, variable names, and functions as you write them.</a:t>
            </a:r>
          </a:p>
          <a:p>
            <a:r>
              <a:rPr lang="en-US" dirty="0">
                <a:solidFill>
                  <a:schemeClr val="bg1"/>
                </a:solidFill>
              </a:rPr>
              <a:t>Generate repetitive code.</a:t>
            </a:r>
          </a:p>
          <a:p>
            <a:r>
              <a:rPr lang="en-US" dirty="0">
                <a:solidFill>
                  <a:schemeClr val="bg1"/>
                </a:solidFill>
              </a:rPr>
              <a:t>Generate code from inline comments in natural language.</a:t>
            </a:r>
          </a:p>
          <a:p>
            <a:r>
              <a:rPr lang="en-US" dirty="0">
                <a:solidFill>
                  <a:schemeClr val="bg1"/>
                </a:solidFill>
              </a:rPr>
              <a:t>Generate tests for test-driven development.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9272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B050"/>
                </a:solidFill>
              </a:rPr>
              <a:t>Best Practices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04056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C000"/>
                </a:solidFill>
              </a:rPr>
              <a:t>GitHub Copilot's chat features provide the most value when they're used to:</a:t>
            </a:r>
          </a:p>
          <a:p>
            <a:r>
              <a:rPr lang="en-US" dirty="0">
                <a:solidFill>
                  <a:schemeClr val="bg1"/>
                </a:solidFill>
              </a:rPr>
              <a:t>Answer questions about code in natural language.</a:t>
            </a:r>
          </a:p>
          <a:p>
            <a:r>
              <a:rPr lang="en-US" dirty="0">
                <a:solidFill>
                  <a:schemeClr val="bg1"/>
                </a:solidFill>
              </a:rPr>
              <a:t>Generate large sections of code, then iterate on that code to meet your needs.</a:t>
            </a:r>
          </a:p>
          <a:p>
            <a:r>
              <a:rPr lang="en-US" dirty="0">
                <a:solidFill>
                  <a:schemeClr val="bg1"/>
                </a:solidFill>
              </a:rPr>
              <a:t>Accomplish specific tasks with keywords and skills. </a:t>
            </a:r>
            <a:r>
              <a:rPr lang="en-US" dirty="0" smtClean="0">
                <a:solidFill>
                  <a:schemeClr val="bg1"/>
                </a:solidFill>
              </a:rPr>
              <a:t>Different </a:t>
            </a:r>
            <a:r>
              <a:rPr lang="en-US" dirty="0">
                <a:solidFill>
                  <a:schemeClr val="bg1"/>
                </a:solidFill>
              </a:rPr>
              <a:t>types of keywords and skills are available in different Copilot Chat platforms.</a:t>
            </a:r>
          </a:p>
          <a:p>
            <a:r>
              <a:rPr lang="en-US" dirty="0">
                <a:solidFill>
                  <a:schemeClr val="bg1"/>
                </a:solidFill>
              </a:rPr>
              <a:t>Complete a task as a specific persona. 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9801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B050"/>
                </a:solidFill>
              </a:rPr>
              <a:t>Best Practices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C000"/>
                </a:solidFill>
              </a:rPr>
              <a:t>Get the most out of Copilot inline suggestions</a:t>
            </a:r>
          </a:p>
          <a:p>
            <a:r>
              <a:rPr lang="en-US" dirty="0">
                <a:solidFill>
                  <a:schemeClr val="bg1"/>
                </a:solidFill>
              </a:rPr>
              <a:t>Provide context for GitHub Copilot</a:t>
            </a:r>
          </a:p>
          <a:p>
            <a:r>
              <a:rPr lang="en-IN" dirty="0">
                <a:solidFill>
                  <a:schemeClr val="bg1"/>
                </a:solidFill>
              </a:rPr>
              <a:t>Open files</a:t>
            </a:r>
          </a:p>
          <a:p>
            <a:r>
              <a:rPr lang="en-IN" dirty="0">
                <a:solidFill>
                  <a:schemeClr val="bg1"/>
                </a:solidFill>
              </a:rPr>
              <a:t>Top level comment</a:t>
            </a:r>
          </a:p>
          <a:p>
            <a:r>
              <a:rPr lang="en-IN" dirty="0">
                <a:solidFill>
                  <a:schemeClr val="bg1"/>
                </a:solidFill>
              </a:rPr>
              <a:t>Appropriate includes and references</a:t>
            </a:r>
          </a:p>
          <a:p>
            <a:r>
              <a:rPr lang="en-IN" dirty="0">
                <a:solidFill>
                  <a:schemeClr val="bg1"/>
                </a:solidFill>
              </a:rPr>
              <a:t>Meaningful function names</a:t>
            </a:r>
          </a:p>
          <a:p>
            <a:r>
              <a:rPr lang="en-US" dirty="0">
                <a:solidFill>
                  <a:schemeClr val="bg1"/>
                </a:solidFill>
              </a:rPr>
              <a:t>Prime Copilot with sample code</a:t>
            </a:r>
          </a:p>
          <a:p>
            <a:r>
              <a:rPr lang="en-US" dirty="0">
                <a:solidFill>
                  <a:schemeClr val="bg1"/>
                </a:solidFill>
              </a:rPr>
              <a:t>Be consistent and keep the quality bar high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0938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IN" dirty="0">
                <a:solidFill>
                  <a:srgbClr val="00B050"/>
                </a:solidFill>
              </a:rPr>
              <a:t>Best Practices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18457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C000"/>
                </a:solidFill>
              </a:rPr>
              <a:t>Get the most out of GitHub Copilot Chat</a:t>
            </a:r>
          </a:p>
          <a:p>
            <a:r>
              <a:rPr lang="en-US" b="1" dirty="0">
                <a:solidFill>
                  <a:schemeClr val="bg1"/>
                </a:solidFill>
              </a:rPr>
              <a:t>Start general, then get specific</a:t>
            </a:r>
          </a:p>
          <a:p>
            <a:r>
              <a:rPr lang="en-IN" b="1" dirty="0">
                <a:solidFill>
                  <a:schemeClr val="bg1"/>
                </a:solidFill>
              </a:rPr>
              <a:t>Give examples</a:t>
            </a:r>
          </a:p>
          <a:p>
            <a:r>
              <a:rPr lang="en-US" b="1" dirty="0">
                <a:solidFill>
                  <a:schemeClr val="bg1"/>
                </a:solidFill>
              </a:rPr>
              <a:t>Break complex tasks into simpler tasks</a:t>
            </a:r>
          </a:p>
          <a:p>
            <a:r>
              <a:rPr lang="en-IN" b="1" dirty="0">
                <a:solidFill>
                  <a:schemeClr val="bg1"/>
                </a:solidFill>
              </a:rPr>
              <a:t>Avoid ambiguity</a:t>
            </a:r>
          </a:p>
          <a:p>
            <a:r>
              <a:rPr lang="en-IN" b="1" dirty="0">
                <a:solidFill>
                  <a:schemeClr val="bg1"/>
                </a:solidFill>
              </a:rPr>
              <a:t>Indicate relevant code</a:t>
            </a:r>
          </a:p>
          <a:p>
            <a:r>
              <a:rPr lang="en-US" b="1" dirty="0">
                <a:solidFill>
                  <a:schemeClr val="bg1"/>
                </a:solidFill>
              </a:rPr>
              <a:t>Use chat participants, slash commands, and chat variables</a:t>
            </a:r>
          </a:p>
          <a:p>
            <a:r>
              <a:rPr lang="en-IN" b="1" dirty="0">
                <a:solidFill>
                  <a:schemeClr val="bg1"/>
                </a:solidFill>
              </a:rPr>
              <a:t>Experiment and iterate</a:t>
            </a:r>
          </a:p>
          <a:p>
            <a:r>
              <a:rPr lang="en-IN" b="1" dirty="0">
                <a:solidFill>
                  <a:schemeClr val="bg1"/>
                </a:solidFill>
              </a:rPr>
              <a:t>Keep history relevant</a:t>
            </a:r>
          </a:p>
          <a:p>
            <a:r>
              <a:rPr lang="en-IN" b="1" dirty="0">
                <a:solidFill>
                  <a:schemeClr val="bg1"/>
                </a:solidFill>
              </a:rPr>
              <a:t>Follow good coding practices</a:t>
            </a:r>
          </a:p>
          <a:p>
            <a:endParaRPr lang="en-I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4933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AI is an </a:t>
            </a:r>
            <a:r>
              <a:rPr lang="en-US" b="1" dirty="0" smtClean="0">
                <a:solidFill>
                  <a:srgbClr val="00B050"/>
                </a:solidFill>
              </a:rPr>
              <a:t>Assistant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FFC000"/>
                </a:solidFill>
              </a:rPr>
              <a:t>Not </a:t>
            </a:r>
            <a:r>
              <a:rPr lang="en-US" dirty="0">
                <a:solidFill>
                  <a:srgbClr val="FFC000"/>
                </a:solidFill>
              </a:rPr>
              <a:t>a replacement for:</a:t>
            </a:r>
            <a:endParaRPr lang="en-IN" dirty="0">
              <a:solidFill>
                <a:srgbClr val="FFC000"/>
              </a:solidFill>
            </a:endParaRPr>
          </a:p>
          <a:p>
            <a:pPr lvl="0"/>
            <a:r>
              <a:rPr lang="en-US" dirty="0">
                <a:solidFill>
                  <a:schemeClr val="bg1"/>
                </a:solidFill>
              </a:rPr>
              <a:t>Architecture thinking</a:t>
            </a:r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US" dirty="0">
                <a:solidFill>
                  <a:schemeClr val="bg1"/>
                </a:solidFill>
              </a:rPr>
              <a:t>Business understanding</a:t>
            </a:r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US" dirty="0">
                <a:solidFill>
                  <a:schemeClr val="bg1"/>
                </a:solidFill>
              </a:rPr>
              <a:t>Validation</a:t>
            </a:r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US" dirty="0">
                <a:solidFill>
                  <a:schemeClr val="bg1"/>
                </a:solidFill>
              </a:rPr>
              <a:t>Security review</a:t>
            </a:r>
            <a:endParaRPr lang="en-IN" dirty="0">
              <a:solidFill>
                <a:schemeClr val="bg1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18665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Prompt Quality Determines Output Quality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bg1"/>
                </a:solidFill>
              </a:rPr>
              <a:t>Garbage in → Garbage out.</a:t>
            </a:r>
            <a:endParaRPr lang="en-IN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C000"/>
                </a:solidFill>
              </a:rPr>
              <a:t>Human Review is Mandatory</a:t>
            </a:r>
            <a:endParaRPr lang="en-IN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Always validate:</a:t>
            </a:r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US" dirty="0">
                <a:solidFill>
                  <a:schemeClr val="bg1"/>
                </a:solidFill>
              </a:rPr>
              <a:t>Security</a:t>
            </a:r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US" dirty="0">
                <a:solidFill>
                  <a:schemeClr val="bg1"/>
                </a:solidFill>
              </a:rPr>
              <a:t>Logic</a:t>
            </a:r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US" dirty="0">
                <a:solidFill>
                  <a:schemeClr val="bg1"/>
                </a:solidFill>
              </a:rPr>
              <a:t>Compliance</a:t>
            </a:r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US" dirty="0">
                <a:solidFill>
                  <a:schemeClr val="bg1"/>
                </a:solidFill>
              </a:rPr>
              <a:t>Performance</a:t>
            </a:r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US" dirty="0">
                <a:solidFill>
                  <a:schemeClr val="bg1"/>
                </a:solidFill>
              </a:rPr>
              <a:t>Scalability</a:t>
            </a:r>
            <a:endParaRPr lang="en-IN" dirty="0">
              <a:solidFill>
                <a:schemeClr val="bg1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8690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2719</TotalTime>
  <Words>1178</Words>
  <Application>Microsoft Office PowerPoint</Application>
  <PresentationFormat>On-screen Show (4:3)</PresentationFormat>
  <Paragraphs>191</Paragraphs>
  <Slides>37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6 principles of responsible AI</vt:lpstr>
      <vt:lpstr>GitHub Copilot user prompt process flow - INBOUND</vt:lpstr>
      <vt:lpstr>Proxy filter</vt:lpstr>
      <vt:lpstr>Toxicity filtering</vt:lpstr>
      <vt:lpstr>Code generation with LLM</vt:lpstr>
      <vt:lpstr>GitHub Copilot user prompt process flow - OUTBOUND</vt:lpstr>
      <vt:lpstr>OUTBOUND</vt:lpstr>
      <vt:lpstr>GitHub Copilot Support</vt:lpstr>
      <vt:lpstr>Tokens in AI Tools</vt:lpstr>
      <vt:lpstr>Copilot context limit</vt:lpstr>
      <vt:lpstr>Golden Rule</vt:lpstr>
      <vt:lpstr>Copilot context limit</vt:lpstr>
      <vt:lpstr>Languages and Framework Support</vt:lpstr>
      <vt:lpstr>Copilot can work with various types of comments to inform its suggestions </vt:lpstr>
      <vt:lpstr>Prompt engineering</vt:lpstr>
      <vt:lpstr>What is prompt engineering?</vt:lpstr>
      <vt:lpstr>Principles of prompt engineering</vt:lpstr>
      <vt:lpstr>Best practices in prompt engineering</vt:lpstr>
      <vt:lpstr>How Copilot learns from your prompts</vt:lpstr>
      <vt:lpstr>General AI Prompting Best Practices</vt:lpstr>
      <vt:lpstr>Common Mistakes While Using Copilot</vt:lpstr>
      <vt:lpstr>Code Development features of GitHub Copilot</vt:lpstr>
      <vt:lpstr>Examine GitHub Copilot best practices</vt:lpstr>
      <vt:lpstr>Best Practices</vt:lpstr>
      <vt:lpstr>Best Practices</vt:lpstr>
      <vt:lpstr>Best Practices</vt:lpstr>
      <vt:lpstr>Best Practices</vt:lpstr>
      <vt:lpstr>AI is an Assistant</vt:lpstr>
      <vt:lpstr>Prompt Quality Determines Output Quality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Ramnath Nishad</dc:creator>
  <cp:lastModifiedBy>Ramnath Nishad</cp:lastModifiedBy>
  <cp:revision>82</cp:revision>
  <dcterms:created xsi:type="dcterms:W3CDTF">2025-07-05T03:07:48Z</dcterms:created>
  <dcterms:modified xsi:type="dcterms:W3CDTF">2026-05-17T20:47:08Z</dcterms:modified>
</cp:coreProperties>
</file>