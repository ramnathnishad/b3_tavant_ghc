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59" r:id="rId7"/>
    <p:sldId id="269" r:id="rId8"/>
    <p:sldId id="260" r:id="rId9"/>
    <p:sldId id="270" r:id="rId10"/>
    <p:sldId id="261" r:id="rId11"/>
    <p:sldId id="271" r:id="rId12"/>
    <p:sldId id="262" r:id="rId13"/>
    <p:sldId id="272" r:id="rId14"/>
    <p:sldId id="265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6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38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47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707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085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0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168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025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3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87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190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3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50CAF-71A3-4F80-8CE4-FB3823D37E0C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F27B1-A143-49AF-BF11-02623AE01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9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91023"/>
            <a:ext cx="7772400" cy="1470025"/>
          </a:xfrm>
        </p:spPr>
        <p:txBody>
          <a:bodyPr/>
          <a:lstStyle/>
          <a:p>
            <a:r>
              <a:rPr lang="en-IN" b="1" dirty="0" smtClean="0"/>
              <a:t>Knowledge Check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489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Q1. What's GitHub </a:t>
            </a:r>
            <a:r>
              <a:rPr lang="en-IN" dirty="0" err="1" smtClean="0">
                <a:solidFill>
                  <a:srgbClr val="FF0000"/>
                </a:solidFill>
              </a:rPr>
              <a:t>Copilot</a:t>
            </a:r>
            <a:r>
              <a:rPr lang="en-IN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dirty="0" smtClean="0"/>
              <a:t>A platform for code repositories.</a:t>
            </a:r>
          </a:p>
          <a:p>
            <a:r>
              <a:rPr lang="en-US" dirty="0" smtClean="0"/>
              <a:t> A model powered by machine learning.</a:t>
            </a:r>
          </a:p>
          <a:p>
            <a:r>
              <a:rPr lang="en-US" dirty="0" smtClean="0"/>
              <a:t> An assistant for coding, powered by </a:t>
            </a:r>
            <a:r>
              <a:rPr lang="en-US" dirty="0" err="1" smtClean="0"/>
              <a:t>OpenAI</a:t>
            </a:r>
            <a:r>
              <a:rPr lang="en-US" dirty="0" smtClean="0"/>
              <a:t>.</a:t>
            </a:r>
          </a:p>
          <a:p>
            <a:r>
              <a:rPr lang="en-US" dirty="0" smtClean="0"/>
              <a:t> A service for web hosting.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76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FF0000"/>
                </a:solidFill>
              </a:rPr>
              <a:t>Q1. What's GitHub </a:t>
            </a:r>
            <a:r>
              <a:rPr lang="en-IN" dirty="0" err="1" smtClean="0">
                <a:solidFill>
                  <a:srgbClr val="FF0000"/>
                </a:solidFill>
              </a:rPr>
              <a:t>Copilot</a:t>
            </a:r>
            <a:r>
              <a:rPr lang="en-IN" dirty="0" smtClean="0">
                <a:solidFill>
                  <a:srgbClr val="FF0000"/>
                </a:solidFill>
              </a:rPr>
              <a:t>?</a:t>
            </a:r>
          </a:p>
          <a:p>
            <a:r>
              <a:rPr lang="en-US" dirty="0" smtClean="0"/>
              <a:t>A platform for code repositories.</a:t>
            </a:r>
          </a:p>
          <a:p>
            <a:r>
              <a:rPr lang="en-US" dirty="0" smtClean="0"/>
              <a:t> A model powered by machine learning.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An assistant for coding, powered by </a:t>
            </a:r>
            <a:r>
              <a:rPr lang="en-US" dirty="0" err="1" smtClean="0">
                <a:solidFill>
                  <a:srgbClr val="C00000"/>
                </a:solidFill>
              </a:rPr>
              <a:t>OpenAI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dirty="0" smtClean="0"/>
              <a:t> A service for web hosting.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359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Q2. What role does prompting play in utilizing GitHub Copilot effectively?</a:t>
            </a:r>
          </a:p>
          <a:p>
            <a:r>
              <a:rPr lang="en-US" dirty="0" smtClean="0"/>
              <a:t> It generates instant bug fixes.</a:t>
            </a:r>
          </a:p>
          <a:p>
            <a:r>
              <a:rPr lang="en-US" dirty="0" smtClean="0"/>
              <a:t> It enhances the quality of code suggestions.</a:t>
            </a:r>
          </a:p>
          <a:p>
            <a:r>
              <a:rPr lang="en-US" dirty="0" smtClean="0"/>
              <a:t> It automates the coding process entirely.</a:t>
            </a:r>
          </a:p>
          <a:p>
            <a:r>
              <a:rPr lang="en-US" dirty="0" smtClean="0"/>
              <a:t> It implements real-time collaboration.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2325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Q2. What role does prompting play in utilizing GitHub Copilot effectively?</a:t>
            </a:r>
          </a:p>
          <a:p>
            <a:r>
              <a:rPr lang="en-US" dirty="0" smtClean="0"/>
              <a:t> It generates instant bug fixes.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It enhances the quality of code suggestions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It automates the coding process entirely.</a:t>
            </a:r>
          </a:p>
          <a:p>
            <a:r>
              <a:rPr lang="en-US" dirty="0" smtClean="0"/>
              <a:t> It implements real-time collaboration.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93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Q3. Which of the following rules is a principle of the 4S Method of prompt engineering?</a:t>
            </a:r>
          </a:p>
          <a:p>
            <a:r>
              <a:rPr lang="en-US" dirty="0" smtClean="0"/>
              <a:t> Summarize code objectives concisely.</a:t>
            </a:r>
          </a:p>
          <a:p>
            <a:r>
              <a:rPr lang="en-US" dirty="0" smtClean="0"/>
              <a:t> Specify instructions explicitly and in detail.</a:t>
            </a:r>
          </a:p>
          <a:p>
            <a:r>
              <a:rPr lang="en-US" dirty="0" smtClean="0"/>
              <a:t> Streamline processes for efficient code suggestions.</a:t>
            </a:r>
          </a:p>
          <a:p>
            <a:r>
              <a:rPr lang="en-US" dirty="0" smtClean="0"/>
              <a:t> Simplify coding languages for universal understanding.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102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Q3. Which of the following rules is a principle of the 4S Method of prompt engineering?</a:t>
            </a:r>
          </a:p>
          <a:p>
            <a:r>
              <a:rPr lang="en-US" dirty="0" smtClean="0"/>
              <a:t> Summarize code objectives concisely.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Specify instructions explicitly and in detail.</a:t>
            </a:r>
          </a:p>
          <a:p>
            <a:r>
              <a:rPr lang="en-US" dirty="0" smtClean="0"/>
              <a:t> Streamline processes for efficient code suggestions.</a:t>
            </a:r>
          </a:p>
          <a:p>
            <a:r>
              <a:rPr lang="en-US" dirty="0" smtClean="0"/>
              <a:t> Simplify coding languages for universal understanding.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362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Q4.How does GitHub Copilot handle personal data?</a:t>
            </a:r>
          </a:p>
          <a:p>
            <a:r>
              <a:rPr lang="en-US" dirty="0" smtClean="0"/>
              <a:t>It saves all personal data for future references.</a:t>
            </a:r>
          </a:p>
          <a:p>
            <a:r>
              <a:rPr lang="en-US" dirty="0" smtClean="0"/>
              <a:t>It shares personal data with other users for collaborative projects.</a:t>
            </a:r>
          </a:p>
          <a:p>
            <a:r>
              <a:rPr lang="en-US" dirty="0" smtClean="0"/>
              <a:t>It encrypts personal data.</a:t>
            </a:r>
          </a:p>
          <a:p>
            <a:r>
              <a:rPr lang="en-US" dirty="0" smtClean="0"/>
              <a:t>It actively filters out personal data to protect user privacy.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755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Q4.How does GitHub Copilot handle personal data?</a:t>
            </a:r>
          </a:p>
          <a:p>
            <a:r>
              <a:rPr lang="en-US" dirty="0" smtClean="0"/>
              <a:t>It saves all personal data for future references.</a:t>
            </a:r>
          </a:p>
          <a:p>
            <a:r>
              <a:rPr lang="en-US" dirty="0" smtClean="0"/>
              <a:t>It shares personal data with other users for collaborative projects.</a:t>
            </a:r>
          </a:p>
          <a:p>
            <a:r>
              <a:rPr lang="en-US" dirty="0" smtClean="0"/>
              <a:t>It encrypts personal data.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It actively filters out personal data to protect user privacy.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52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Q5.How does Copilot use the context to provide code suggestions?</a:t>
            </a:r>
          </a:p>
          <a:p>
            <a:r>
              <a:rPr lang="en-US" dirty="0" smtClean="0"/>
              <a:t> It considers only the prompt text you provide.</a:t>
            </a:r>
          </a:p>
          <a:p>
            <a:r>
              <a:rPr lang="en-US" dirty="0" smtClean="0"/>
              <a:t> It considers the file type but not the content of the file.</a:t>
            </a:r>
          </a:p>
          <a:p>
            <a:r>
              <a:rPr lang="en-US" dirty="0" smtClean="0"/>
              <a:t> It considers the surrounding code, file type, and content of parallel open tabs in the code editor.</a:t>
            </a:r>
          </a:p>
          <a:p>
            <a:r>
              <a:rPr lang="en-US" dirty="0" smtClean="0"/>
              <a:t> It randomly selects context from the internet.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2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Q5.How does Copilot use the context to provide code suggestions?</a:t>
            </a:r>
          </a:p>
          <a:p>
            <a:r>
              <a:rPr lang="en-US" dirty="0" smtClean="0"/>
              <a:t> It considers only the prompt text you provide.</a:t>
            </a:r>
          </a:p>
          <a:p>
            <a:r>
              <a:rPr lang="en-US" dirty="0" smtClean="0"/>
              <a:t> It considers the file type but not the content of the file.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It considers the surrounding code, file type, and content of parallel open tabs in the code editor.</a:t>
            </a:r>
          </a:p>
          <a:p>
            <a:r>
              <a:rPr lang="en-US" dirty="0" smtClean="0"/>
              <a:t> It randomly selects context from the internet.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90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7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Q6. Which of these strategies helps to improve prompt effectiveness in GitHub Copilot?</a:t>
            </a:r>
          </a:p>
          <a:p>
            <a:r>
              <a:rPr lang="en-US" dirty="0" smtClean="0"/>
              <a:t> Providing detailed contextual information with clarity.</a:t>
            </a:r>
          </a:p>
          <a:p>
            <a:r>
              <a:rPr lang="en-US" dirty="0" smtClean="0"/>
              <a:t> Making the prompt as general as possible.</a:t>
            </a:r>
          </a:p>
          <a:p>
            <a:r>
              <a:rPr lang="en-US" dirty="0" smtClean="0"/>
              <a:t> Keeping the prompt lengthy and detailed.</a:t>
            </a:r>
          </a:p>
          <a:p>
            <a:r>
              <a:rPr lang="en-US" dirty="0" smtClean="0"/>
              <a:t> Avoiding examples in the prompt to not restrict Copilot's creativity.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880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7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Q6. Which of these strategies helps to improve prompt effectiveness in GitHub Copilot?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Providing detailed contextual information with clarity.</a:t>
            </a:r>
          </a:p>
          <a:p>
            <a:r>
              <a:rPr lang="en-US" dirty="0" smtClean="0"/>
              <a:t> Making the prompt as general as possible.</a:t>
            </a:r>
          </a:p>
          <a:p>
            <a:r>
              <a:rPr lang="en-US" dirty="0" smtClean="0"/>
              <a:t> Keeping the prompt lengthy and detailed.</a:t>
            </a:r>
          </a:p>
          <a:p>
            <a:r>
              <a:rPr lang="en-US" dirty="0" smtClean="0"/>
              <a:t> Avoiding examples in the prompt to not restrict Copilot's creativity.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948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Q7. </a:t>
            </a:r>
            <a:r>
              <a:rPr lang="en-US" dirty="0" smtClean="0">
                <a:solidFill>
                  <a:srgbClr val="FF0000"/>
                </a:solidFill>
              </a:rPr>
              <a:t>What are the benefits of using implicit prompts with slash commands in inline chat for fixing code issues with GitHub Copilot?</a:t>
            </a:r>
          </a:p>
          <a:p>
            <a:r>
              <a:rPr lang="en-US" dirty="0" smtClean="0"/>
              <a:t> Implicit prompts help enforce a consistent naming convention and syntax based on best practices within Visual Studio Code projects for improved readability.</a:t>
            </a:r>
          </a:p>
          <a:p>
            <a:r>
              <a:rPr lang="en-US" dirty="0" smtClean="0"/>
              <a:t> Implicit prompts help get better responses from GitHub Copilot without writing longer prompts, making it easier to interact and fix code issues.</a:t>
            </a:r>
          </a:p>
          <a:p>
            <a:r>
              <a:rPr lang="en-US" dirty="0" smtClean="0"/>
              <a:t> Implicit prompts help detect security vulnerabilities and potential malicious activities within Visual Studio Code projects for increased safety.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2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Q7. </a:t>
            </a:r>
            <a:r>
              <a:rPr lang="en-US" dirty="0" smtClean="0">
                <a:solidFill>
                  <a:srgbClr val="FF0000"/>
                </a:solidFill>
              </a:rPr>
              <a:t>What are the benefits of using implicit prompts with slash commands in inline chat for fixing code issues with GitHub Copilot?</a:t>
            </a:r>
          </a:p>
          <a:p>
            <a:r>
              <a:rPr lang="en-US" dirty="0" smtClean="0"/>
              <a:t> Implicit prompts help enforce a consistent naming convention and syntax based on best practices within Visual Studio Code projects for improved readability.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Implicit prompts help get better responses from GitHub Copilot without writing longer prompts, making it easier to interact and fix code issues.</a:t>
            </a:r>
          </a:p>
          <a:p>
            <a:r>
              <a:rPr lang="en-US" dirty="0" smtClean="0"/>
              <a:t> Implicit prompts help detect security vulnerabilities and potential malicious activities within Visual Studio Code projects for increased safety.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03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Q8. </a:t>
            </a:r>
            <a:r>
              <a:rPr lang="en-US" sz="2400" b="1" dirty="0" smtClean="0">
                <a:solidFill>
                  <a:srgbClr val="FF0000"/>
                </a:solidFill>
              </a:rPr>
              <a:t>Which best practices about Prompt Engineering is being followed in the following prompt?</a:t>
            </a:r>
          </a:p>
          <a:p>
            <a:pPr marL="400050" lvl="1" indent="0">
              <a:buNone/>
            </a:pPr>
            <a:r>
              <a:rPr lang="en-US" sz="2000" dirty="0" smtClean="0"/>
              <a:t>//</a:t>
            </a:r>
            <a:r>
              <a:rPr lang="en-US" sz="2000" dirty="0"/>
              <a:t>create a function that takes a list of numbers and returns only the even values.</a:t>
            </a:r>
          </a:p>
          <a:p>
            <a:pPr marL="400050" lvl="1" indent="0">
              <a:buNone/>
            </a:pPr>
            <a:r>
              <a:rPr lang="en-US" sz="2000" dirty="0"/>
              <a:t>//create a sample list of numbers</a:t>
            </a:r>
          </a:p>
          <a:p>
            <a:pPr marL="400050" lvl="1" indent="0">
              <a:buNone/>
            </a:pPr>
            <a:r>
              <a:rPr lang="en-US" sz="2000" dirty="0"/>
              <a:t>//create a list of even numbers from the sample list</a:t>
            </a:r>
          </a:p>
          <a:p>
            <a:pPr marL="400050" lvl="1" indent="0">
              <a:buNone/>
            </a:pPr>
            <a:r>
              <a:rPr lang="en-US" sz="2000" dirty="0"/>
              <a:t>//return the list of even numbers</a:t>
            </a:r>
          </a:p>
          <a:p>
            <a:pPr marL="400050" lvl="1" indent="0">
              <a:buNone/>
            </a:pPr>
            <a:r>
              <a:rPr lang="en-US" sz="2000" dirty="0"/>
              <a:t>// Example : [1,2,3,4,5,6,7,8,9,10]=&gt;[2,4,6,8,10</a:t>
            </a:r>
            <a:r>
              <a:rPr lang="en-US" sz="2000" dirty="0" smtClean="0"/>
              <a:t>]</a:t>
            </a:r>
          </a:p>
          <a:p>
            <a:pPr marL="400050" lvl="1" indent="0">
              <a:buNone/>
            </a:pPr>
            <a:endParaRPr lang="en-US" sz="2000" dirty="0" smtClean="0"/>
          </a:p>
          <a:p>
            <a:pPr marL="457200" indent="-457200">
              <a:buAutoNum type="alphaUcPeriod"/>
            </a:pPr>
            <a:r>
              <a:rPr lang="en-US" sz="2400" dirty="0" smtClean="0"/>
              <a:t>Provide </a:t>
            </a:r>
            <a:r>
              <a:rPr lang="en-US" sz="2400" dirty="0"/>
              <a:t>enough context with </a:t>
            </a:r>
            <a:r>
              <a:rPr lang="en-US" sz="2400" dirty="0" smtClean="0"/>
              <a:t>details</a:t>
            </a:r>
          </a:p>
          <a:p>
            <a:pPr marL="457200" indent="-457200">
              <a:buAutoNum type="alphaUcPeriod"/>
            </a:pPr>
            <a:r>
              <a:rPr lang="en-US" sz="2400" dirty="0"/>
              <a:t>'Single' and 'Specific' </a:t>
            </a:r>
            <a:r>
              <a:rPr lang="en-US" sz="2400" dirty="0" smtClean="0"/>
              <a:t>principles</a:t>
            </a:r>
          </a:p>
          <a:p>
            <a:pPr marL="457200" indent="-457200">
              <a:buAutoNum type="alphaUcPeriod"/>
            </a:pPr>
            <a:r>
              <a:rPr lang="en-US" sz="2400" dirty="0"/>
              <a:t>Provide examples for </a:t>
            </a:r>
            <a:r>
              <a:rPr lang="en-US" sz="2400" dirty="0" smtClean="0"/>
              <a:t>learning</a:t>
            </a:r>
          </a:p>
          <a:p>
            <a:pPr marL="457200" indent="-457200">
              <a:buAutoNum type="alphaUcPeriod"/>
            </a:pPr>
            <a:r>
              <a:rPr lang="en-US" sz="2400" dirty="0"/>
              <a:t>Assert and iterate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60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Q8. </a:t>
            </a:r>
            <a:r>
              <a:rPr lang="en-US" sz="2400" b="1" dirty="0" smtClean="0">
                <a:solidFill>
                  <a:srgbClr val="FF0000"/>
                </a:solidFill>
              </a:rPr>
              <a:t>Which best practices about Prompt Engineering is being followed in the following prompt?</a:t>
            </a:r>
          </a:p>
          <a:p>
            <a:pPr marL="400050" lvl="1" indent="0">
              <a:buNone/>
            </a:pPr>
            <a:r>
              <a:rPr lang="en-US" sz="2000" dirty="0" smtClean="0"/>
              <a:t>//</a:t>
            </a:r>
            <a:r>
              <a:rPr lang="en-US" sz="2000" dirty="0"/>
              <a:t>create a function that takes a list of numbers and returns only the even values.</a:t>
            </a:r>
          </a:p>
          <a:p>
            <a:pPr marL="400050" lvl="1" indent="0">
              <a:buNone/>
            </a:pPr>
            <a:r>
              <a:rPr lang="en-US" sz="2000" dirty="0"/>
              <a:t>//create a sample list of numbers</a:t>
            </a:r>
          </a:p>
          <a:p>
            <a:pPr marL="400050" lvl="1" indent="0">
              <a:buNone/>
            </a:pPr>
            <a:r>
              <a:rPr lang="en-US" sz="2000" dirty="0"/>
              <a:t>//create a list of even numbers from the sample list</a:t>
            </a:r>
          </a:p>
          <a:p>
            <a:pPr marL="400050" lvl="1" indent="0">
              <a:buNone/>
            </a:pPr>
            <a:r>
              <a:rPr lang="en-US" sz="2000" dirty="0"/>
              <a:t>//return the list of even numbers</a:t>
            </a:r>
          </a:p>
          <a:p>
            <a:pPr marL="400050" lvl="1" indent="0">
              <a:buNone/>
            </a:pPr>
            <a:r>
              <a:rPr lang="en-US" sz="2000" dirty="0"/>
              <a:t>// Example : [1,2,3,4,5,6,7,8,9,10]=&gt;[2,4,6,8,10</a:t>
            </a:r>
            <a:r>
              <a:rPr lang="en-US" sz="2000" dirty="0" smtClean="0"/>
              <a:t>]</a:t>
            </a:r>
          </a:p>
          <a:p>
            <a:pPr marL="400050" lvl="1" indent="0">
              <a:buNone/>
            </a:pPr>
            <a:endParaRPr lang="en-US" sz="2000" dirty="0" smtClean="0"/>
          </a:p>
          <a:p>
            <a:pPr marL="457200" indent="-457200">
              <a:buAutoNum type="alphaUcPeriod"/>
            </a:pPr>
            <a:r>
              <a:rPr lang="en-US" sz="2400" dirty="0" smtClean="0"/>
              <a:t>Provide </a:t>
            </a:r>
            <a:r>
              <a:rPr lang="en-US" sz="2400" dirty="0"/>
              <a:t>enough context with </a:t>
            </a:r>
            <a:r>
              <a:rPr lang="en-US" sz="2400" dirty="0" smtClean="0"/>
              <a:t>details</a:t>
            </a:r>
          </a:p>
          <a:p>
            <a:pPr marL="457200" indent="-457200">
              <a:buAutoNum type="alphaUcPeriod"/>
            </a:pPr>
            <a:r>
              <a:rPr lang="en-US" sz="2400" dirty="0"/>
              <a:t>'Single' and 'Specific' </a:t>
            </a:r>
            <a:r>
              <a:rPr lang="en-US" sz="2400" dirty="0" smtClean="0"/>
              <a:t>principles</a:t>
            </a:r>
          </a:p>
          <a:p>
            <a:pPr marL="457200" indent="-457200">
              <a:buAutoNum type="alphaUcPeriod"/>
            </a:pPr>
            <a:r>
              <a:rPr lang="en-US" sz="2400" b="1" dirty="0">
                <a:solidFill>
                  <a:srgbClr val="C00000"/>
                </a:solidFill>
              </a:rPr>
              <a:t>Provide examples for </a:t>
            </a:r>
            <a:r>
              <a:rPr lang="en-US" sz="2400" b="1" dirty="0" smtClean="0">
                <a:solidFill>
                  <a:srgbClr val="C00000"/>
                </a:solidFill>
              </a:rPr>
              <a:t>learning</a:t>
            </a:r>
          </a:p>
          <a:p>
            <a:pPr marL="457200" indent="-457200">
              <a:buAutoNum type="alphaUcPeriod"/>
            </a:pPr>
            <a:r>
              <a:rPr lang="en-US" sz="2400" dirty="0"/>
              <a:t>Assert and iterate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146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Q9.</a:t>
            </a:r>
            <a:r>
              <a:rPr lang="en-US" dirty="0" smtClean="0"/>
              <a:t> </a:t>
            </a:r>
            <a:r>
              <a:rPr lang="en-US" dirty="0"/>
              <a:t>You are building a </a:t>
            </a:r>
            <a:r>
              <a:rPr lang="en-US" dirty="0" smtClean="0"/>
              <a:t>Web </a:t>
            </a:r>
            <a:r>
              <a:rPr lang="en-US" dirty="0"/>
              <a:t>API and want Copilot to generate a controller. What's the best way to prompt it?</a:t>
            </a:r>
            <a:br>
              <a:rPr lang="en-US" dirty="0"/>
            </a:br>
            <a:r>
              <a:rPr lang="en-US" dirty="0"/>
              <a:t>A. "Create Web API"</a:t>
            </a:r>
            <a:br>
              <a:rPr lang="en-US" dirty="0"/>
            </a:br>
            <a:r>
              <a:rPr lang="en-US" dirty="0"/>
              <a:t>B. Write a comment like // Generate controller for Employee with CRUD actions</a:t>
            </a:r>
            <a:br>
              <a:rPr lang="en-US" dirty="0"/>
            </a:br>
            <a:r>
              <a:rPr lang="en-US" dirty="0"/>
              <a:t>C. Use Alt+F4</a:t>
            </a:r>
            <a:br>
              <a:rPr lang="en-US" dirty="0"/>
            </a:br>
            <a:r>
              <a:rPr lang="en-US" dirty="0"/>
              <a:t>D. Say "Start new app" in chat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38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Q9.</a:t>
            </a:r>
            <a:r>
              <a:rPr lang="en-US" dirty="0" smtClean="0"/>
              <a:t> </a:t>
            </a:r>
            <a:r>
              <a:rPr lang="en-US" dirty="0"/>
              <a:t>You are building </a:t>
            </a:r>
            <a:r>
              <a:rPr lang="en-US" dirty="0" smtClean="0"/>
              <a:t>a </a:t>
            </a:r>
            <a:r>
              <a:rPr lang="en-US" dirty="0"/>
              <a:t>Web API and want Copilot to generate a controller. What's the best way to prompt it?</a:t>
            </a:r>
            <a:br>
              <a:rPr lang="en-US" dirty="0"/>
            </a:br>
            <a:r>
              <a:rPr lang="en-US" dirty="0"/>
              <a:t>A. "Create Web API"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B. Write a comment like // Generate controller for Employee with CRUD actions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C. Use Alt+F4</a:t>
            </a:r>
            <a:br>
              <a:rPr lang="en-US" dirty="0"/>
            </a:br>
            <a:r>
              <a:rPr lang="en-US" dirty="0"/>
              <a:t>D. Say "Start new app" in chat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6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Q10. </a:t>
            </a:r>
            <a:r>
              <a:rPr lang="en-IN" b="1" dirty="0"/>
              <a:t>What is a "context token" in GitHub </a:t>
            </a:r>
            <a:r>
              <a:rPr lang="en-IN" b="1" dirty="0" err="1"/>
              <a:t>Copilot's</a:t>
            </a:r>
            <a:r>
              <a:rPr lang="en-IN" b="1" dirty="0"/>
              <a:t> suggestion engine?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A security token used for authentication</a:t>
            </a:r>
            <a:br>
              <a:rPr lang="en-IN" dirty="0"/>
            </a:br>
            <a:r>
              <a:rPr lang="en-IN" dirty="0"/>
              <a:t>B. A license key to enable </a:t>
            </a:r>
            <a:r>
              <a:rPr lang="en-IN" dirty="0" err="1"/>
              <a:t>Copilot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C. A unit of code/text that </a:t>
            </a:r>
            <a:r>
              <a:rPr lang="en-IN" dirty="0" err="1"/>
              <a:t>Copilot</a:t>
            </a:r>
            <a:r>
              <a:rPr lang="en-IN" dirty="0"/>
              <a:t> uses to understand surrounding code</a:t>
            </a:r>
            <a:br>
              <a:rPr lang="en-IN" dirty="0"/>
            </a:br>
            <a:r>
              <a:rPr lang="en-IN" dirty="0"/>
              <a:t>D. A debug symbol for tracking exceptions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509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Q10. </a:t>
            </a:r>
            <a:r>
              <a:rPr lang="en-IN" b="1" dirty="0"/>
              <a:t>What is a "context token" in GitHub </a:t>
            </a:r>
            <a:r>
              <a:rPr lang="en-IN" b="1" dirty="0" err="1"/>
              <a:t>Copilot's</a:t>
            </a:r>
            <a:r>
              <a:rPr lang="en-IN" b="1" dirty="0"/>
              <a:t> suggestion engine?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A security token used for authentication</a:t>
            </a:r>
            <a:br>
              <a:rPr lang="en-IN" dirty="0"/>
            </a:br>
            <a:r>
              <a:rPr lang="en-IN" dirty="0"/>
              <a:t>B. A license key to enable </a:t>
            </a:r>
            <a:r>
              <a:rPr lang="en-IN" dirty="0" err="1"/>
              <a:t>Copilot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C. A unit of code/text that </a:t>
            </a:r>
            <a:r>
              <a:rPr lang="en-IN" dirty="0" err="1">
                <a:solidFill>
                  <a:srgbClr val="FF0000"/>
                </a:solidFill>
              </a:rPr>
              <a:t>Copilot</a:t>
            </a:r>
            <a:r>
              <a:rPr lang="en-IN" dirty="0">
                <a:solidFill>
                  <a:srgbClr val="FF0000"/>
                </a:solidFill>
              </a:rPr>
              <a:t> uses to understand surrounding code</a:t>
            </a:r>
            <a:br>
              <a:rPr lang="en-IN" dirty="0">
                <a:solidFill>
                  <a:srgbClr val="FF0000"/>
                </a:solidFill>
              </a:rPr>
            </a:br>
            <a:r>
              <a:rPr lang="en-IN" dirty="0"/>
              <a:t>D. A debug symbol for tracking exceptions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62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Q11. </a:t>
            </a:r>
            <a:r>
              <a:rPr lang="en-IN" b="1" dirty="0"/>
              <a:t>What happens if your file exceeds </a:t>
            </a:r>
            <a:r>
              <a:rPr lang="en-IN" b="1" dirty="0" err="1"/>
              <a:t>Copilot's</a:t>
            </a:r>
            <a:r>
              <a:rPr lang="en-IN" b="1" dirty="0"/>
              <a:t> token context limit?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</a:t>
            </a:r>
            <a:r>
              <a:rPr lang="en-IN" dirty="0" err="1"/>
              <a:t>Copilot</a:t>
            </a:r>
            <a:r>
              <a:rPr lang="en-IN" dirty="0"/>
              <a:t> automatically disables suggestions</a:t>
            </a:r>
            <a:br>
              <a:rPr lang="en-IN" dirty="0"/>
            </a:br>
            <a:r>
              <a:rPr lang="en-IN" dirty="0"/>
              <a:t>B. </a:t>
            </a:r>
            <a:r>
              <a:rPr lang="en-IN" dirty="0" err="1"/>
              <a:t>Copilot</a:t>
            </a:r>
            <a:r>
              <a:rPr lang="en-IN" dirty="0"/>
              <a:t> only considers recent surrounding code to generate suggestions</a:t>
            </a:r>
            <a:br>
              <a:rPr lang="en-IN" dirty="0"/>
            </a:br>
            <a:r>
              <a:rPr lang="en-IN" dirty="0"/>
              <a:t>C. </a:t>
            </a:r>
            <a:r>
              <a:rPr lang="en-IN" dirty="0" err="1"/>
              <a:t>Copilot</a:t>
            </a:r>
            <a:r>
              <a:rPr lang="en-IN" dirty="0"/>
              <a:t> crashes the editor</a:t>
            </a:r>
            <a:br>
              <a:rPr lang="en-IN" dirty="0"/>
            </a:br>
            <a:r>
              <a:rPr lang="en-IN" dirty="0"/>
              <a:t>D. </a:t>
            </a:r>
            <a:r>
              <a:rPr lang="en-IN" dirty="0" err="1"/>
              <a:t>Copilot</a:t>
            </a:r>
            <a:r>
              <a:rPr lang="en-IN" dirty="0"/>
              <a:t> opens a new file for suggestions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1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Q11. </a:t>
            </a:r>
            <a:r>
              <a:rPr lang="en-IN" b="1" dirty="0"/>
              <a:t>What happens if your file exceeds </a:t>
            </a:r>
            <a:r>
              <a:rPr lang="en-IN" b="1" dirty="0" err="1"/>
              <a:t>Copilot's</a:t>
            </a:r>
            <a:r>
              <a:rPr lang="en-IN" b="1" dirty="0"/>
              <a:t> token context limit?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</a:t>
            </a:r>
            <a:r>
              <a:rPr lang="en-IN" dirty="0" err="1"/>
              <a:t>Copilot</a:t>
            </a:r>
            <a:r>
              <a:rPr lang="en-IN" dirty="0"/>
              <a:t> automatically disables suggestions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B. </a:t>
            </a:r>
            <a:r>
              <a:rPr lang="en-IN" dirty="0" err="1">
                <a:solidFill>
                  <a:srgbClr val="FF0000"/>
                </a:solidFill>
              </a:rPr>
              <a:t>Copilot</a:t>
            </a:r>
            <a:r>
              <a:rPr lang="en-IN" dirty="0">
                <a:solidFill>
                  <a:srgbClr val="FF0000"/>
                </a:solidFill>
              </a:rPr>
              <a:t> only considers recent surrounding code to generate suggestions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C. </a:t>
            </a:r>
            <a:r>
              <a:rPr lang="en-IN" dirty="0" err="1"/>
              <a:t>Copilot</a:t>
            </a:r>
            <a:r>
              <a:rPr lang="en-IN" dirty="0"/>
              <a:t> crashes the editor</a:t>
            </a:r>
            <a:br>
              <a:rPr lang="en-IN" dirty="0"/>
            </a:br>
            <a:r>
              <a:rPr lang="en-IN" dirty="0"/>
              <a:t>D. </a:t>
            </a:r>
            <a:r>
              <a:rPr lang="en-IN" dirty="0" err="1"/>
              <a:t>Copilot</a:t>
            </a:r>
            <a:r>
              <a:rPr lang="en-IN" dirty="0"/>
              <a:t> opens a new file for suggestions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5363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Q12. </a:t>
            </a:r>
            <a:r>
              <a:rPr lang="en-IN" b="1" dirty="0" smtClean="0"/>
              <a:t>What </a:t>
            </a:r>
            <a:r>
              <a:rPr lang="en-IN" b="1" dirty="0"/>
              <a:t>role does code comment context play in GitHub </a:t>
            </a:r>
            <a:r>
              <a:rPr lang="en-IN" b="1" dirty="0" err="1"/>
              <a:t>Copilot’s</a:t>
            </a:r>
            <a:r>
              <a:rPr lang="en-IN" b="1" dirty="0"/>
              <a:t> performance?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It increases memory usage</a:t>
            </a:r>
            <a:br>
              <a:rPr lang="en-IN" dirty="0"/>
            </a:br>
            <a:r>
              <a:rPr lang="en-IN" dirty="0"/>
              <a:t>B. It degrades performance</a:t>
            </a:r>
            <a:br>
              <a:rPr lang="en-IN" dirty="0"/>
            </a:br>
            <a:r>
              <a:rPr lang="en-IN" dirty="0"/>
              <a:t>C. It helps </a:t>
            </a:r>
            <a:r>
              <a:rPr lang="en-IN" dirty="0" err="1"/>
              <a:t>Copilot</a:t>
            </a:r>
            <a:r>
              <a:rPr lang="en-IN" dirty="0"/>
              <a:t> understand developer intent</a:t>
            </a:r>
            <a:br>
              <a:rPr lang="en-IN" dirty="0"/>
            </a:br>
            <a:r>
              <a:rPr lang="en-IN" dirty="0"/>
              <a:t>D. It blocks real-time collaboration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05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Q12. </a:t>
            </a:r>
            <a:r>
              <a:rPr lang="en-IN" b="1" dirty="0" smtClean="0"/>
              <a:t>What </a:t>
            </a:r>
            <a:r>
              <a:rPr lang="en-IN" b="1" dirty="0"/>
              <a:t>role does code comment context play in GitHub </a:t>
            </a:r>
            <a:r>
              <a:rPr lang="en-IN" b="1" dirty="0" err="1"/>
              <a:t>Copilot’s</a:t>
            </a:r>
            <a:r>
              <a:rPr lang="en-IN" b="1" dirty="0"/>
              <a:t> performance?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It increases memory usage</a:t>
            </a:r>
            <a:br>
              <a:rPr lang="en-IN" dirty="0"/>
            </a:br>
            <a:r>
              <a:rPr lang="en-IN" dirty="0"/>
              <a:t>B. It degrades performance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C. It helps </a:t>
            </a:r>
            <a:r>
              <a:rPr lang="en-IN" dirty="0" err="1">
                <a:solidFill>
                  <a:srgbClr val="FF0000"/>
                </a:solidFill>
              </a:rPr>
              <a:t>Copilot</a:t>
            </a:r>
            <a:r>
              <a:rPr lang="en-IN" dirty="0">
                <a:solidFill>
                  <a:srgbClr val="FF0000"/>
                </a:solidFill>
              </a:rPr>
              <a:t> understand developer intent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D. It blocks real-time collaboration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79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Q13.Which </a:t>
            </a:r>
            <a:r>
              <a:rPr lang="en-IN" b="1" dirty="0"/>
              <a:t>of the following describes </a:t>
            </a:r>
            <a:r>
              <a:rPr lang="en-IN" b="1" dirty="0" err="1"/>
              <a:t>Copilot’s</a:t>
            </a:r>
            <a:r>
              <a:rPr lang="en-IN" b="1" dirty="0"/>
              <a:t> token limit correctly?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It defines the number of GitHub users in a project</a:t>
            </a:r>
            <a:br>
              <a:rPr lang="en-IN" dirty="0"/>
            </a:br>
            <a:r>
              <a:rPr lang="en-IN" dirty="0"/>
              <a:t>B. It is the amount of characters allowed in a file</a:t>
            </a:r>
            <a:br>
              <a:rPr lang="en-IN" dirty="0"/>
            </a:br>
            <a:r>
              <a:rPr lang="en-IN" dirty="0"/>
              <a:t>C. It is the maximum amount of code </a:t>
            </a:r>
            <a:r>
              <a:rPr lang="en-IN" dirty="0" err="1"/>
              <a:t>Copilot</a:t>
            </a:r>
            <a:r>
              <a:rPr lang="en-IN" dirty="0"/>
              <a:t> can "see" at once</a:t>
            </a:r>
            <a:br>
              <a:rPr lang="en-IN" dirty="0"/>
            </a:br>
            <a:r>
              <a:rPr lang="en-IN" dirty="0"/>
              <a:t>D. It’s a VS Code configuration for file size</a:t>
            </a:r>
          </a:p>
        </p:txBody>
      </p:sp>
    </p:spTree>
    <p:extLst>
      <p:ext uri="{BB962C8B-B14F-4D97-AF65-F5344CB8AC3E}">
        <p14:creationId xmlns:p14="http://schemas.microsoft.com/office/powerpoint/2010/main" val="406222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Q13.Which </a:t>
            </a:r>
            <a:r>
              <a:rPr lang="en-IN" b="1" dirty="0"/>
              <a:t>of the following describes </a:t>
            </a:r>
            <a:r>
              <a:rPr lang="en-IN" b="1" dirty="0" err="1"/>
              <a:t>Copilot’s</a:t>
            </a:r>
            <a:r>
              <a:rPr lang="en-IN" b="1" dirty="0"/>
              <a:t> token limit correctly?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A. It defines the number of GitHub users in a project</a:t>
            </a:r>
            <a:br>
              <a:rPr lang="en-IN" dirty="0"/>
            </a:br>
            <a:r>
              <a:rPr lang="en-IN" dirty="0"/>
              <a:t>B. It is the amount of characters allowed in a file</a:t>
            </a: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C. It is the maximum amount of code </a:t>
            </a:r>
            <a:r>
              <a:rPr lang="en-IN" dirty="0" err="1">
                <a:solidFill>
                  <a:srgbClr val="FF0000"/>
                </a:solidFill>
              </a:rPr>
              <a:t>Copilot</a:t>
            </a:r>
            <a:r>
              <a:rPr lang="en-IN" dirty="0">
                <a:solidFill>
                  <a:srgbClr val="FF0000"/>
                </a:solidFill>
              </a:rPr>
              <a:t> can "see" at once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D. It’s a VS Code configuration for file size</a:t>
            </a:r>
          </a:p>
        </p:txBody>
      </p:sp>
    </p:spTree>
    <p:extLst>
      <p:ext uri="{BB962C8B-B14F-4D97-AF65-F5344CB8AC3E}">
        <p14:creationId xmlns:p14="http://schemas.microsoft.com/office/powerpoint/2010/main" val="81844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>
            <a:normAutofit/>
          </a:bodyPr>
          <a:lstStyle/>
          <a:p>
            <a:r>
              <a:rPr lang="en-IN" sz="5400" b="1" dirty="0" smtClean="0"/>
              <a:t>Thank you !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59680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1089</Words>
  <Application>Microsoft Office PowerPoint</Application>
  <PresentationFormat>On-screen Show (4:3)</PresentationFormat>
  <Paragraphs>102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Knowledge Check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Check</dc:title>
  <dc:creator>Ramnath Nishad</dc:creator>
  <cp:lastModifiedBy>Ramnath Nishad</cp:lastModifiedBy>
  <cp:revision>12</cp:revision>
  <dcterms:created xsi:type="dcterms:W3CDTF">2025-07-07T21:05:24Z</dcterms:created>
  <dcterms:modified xsi:type="dcterms:W3CDTF">2026-05-18T04:13:23Z</dcterms:modified>
</cp:coreProperties>
</file>