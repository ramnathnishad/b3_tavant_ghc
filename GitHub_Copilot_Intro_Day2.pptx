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5" r:id="rId2"/>
    <p:sldId id="367" r:id="rId3"/>
    <p:sldId id="356" r:id="rId4"/>
    <p:sldId id="357" r:id="rId5"/>
    <p:sldId id="358" r:id="rId6"/>
    <p:sldId id="366" r:id="rId7"/>
    <p:sldId id="359" r:id="rId8"/>
    <p:sldId id="360" r:id="rId9"/>
    <p:sldId id="363" r:id="rId10"/>
    <p:sldId id="364" r:id="rId11"/>
    <p:sldId id="365" r:id="rId12"/>
    <p:sldId id="322" r:id="rId13"/>
    <p:sldId id="323" r:id="rId14"/>
    <p:sldId id="324" r:id="rId15"/>
    <p:sldId id="325" r:id="rId16"/>
    <p:sldId id="326" r:id="rId17"/>
    <p:sldId id="32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2323"/>
    <a:srgbClr val="2A2A2A"/>
    <a:srgbClr val="212121"/>
    <a:srgbClr val="262626"/>
    <a:srgbClr val="3A3A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133761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60458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BCB8BF7-18B5-4007-BEA7-CEDB67F2B5B1}"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897836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BCB8BF7-18B5-4007-BEA7-CEDB67F2B5B1}"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2856819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BCB8BF7-18B5-4007-BEA7-CEDB67F2B5B1}" type="datetimeFigureOut">
              <a:rPr lang="en-IN" smtClean="0"/>
              <a:t>18-05-2026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188676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BCB8BF7-18B5-4007-BEA7-CEDB67F2B5B1}" type="datetimeFigureOut">
              <a:rPr lang="en-IN" smtClean="0"/>
              <a:t>18-05-2026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706668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8BF7-18B5-4007-BEA7-CEDB67F2B5B1}" type="datetimeFigureOut">
              <a:rPr lang="en-IN" smtClean="0"/>
              <a:t>18-05-2026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122411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CB8BF7-18B5-4007-BEA7-CEDB67F2B5B1}"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051316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BCB8BF7-18B5-4007-BEA7-CEDB67F2B5B1}"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178053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647374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BCB8BF7-18B5-4007-BEA7-CEDB67F2B5B1}"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29167F-2527-4AB3-8F50-D3010F11945D}" type="slidenum">
              <a:rPr lang="en-IN" smtClean="0"/>
              <a:t>‹#›</a:t>
            </a:fld>
            <a:endParaRPr lang="en-IN"/>
          </a:p>
        </p:txBody>
      </p:sp>
    </p:spTree>
    <p:extLst>
      <p:ext uri="{BB962C8B-B14F-4D97-AF65-F5344CB8AC3E}">
        <p14:creationId xmlns:p14="http://schemas.microsoft.com/office/powerpoint/2010/main" val="326978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3232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B8BF7-18B5-4007-BEA7-CEDB67F2B5B1}" type="datetimeFigureOut">
              <a:rPr lang="en-IN" smtClean="0"/>
              <a:t>18-05-2026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9167F-2527-4AB3-8F50-D3010F11945D}" type="slidenum">
              <a:rPr lang="en-IN" smtClean="0"/>
              <a:t>‹#›</a:t>
            </a:fld>
            <a:endParaRPr lang="en-IN"/>
          </a:p>
        </p:txBody>
      </p:sp>
    </p:spTree>
    <p:extLst>
      <p:ext uri="{BB962C8B-B14F-4D97-AF65-F5344CB8AC3E}">
        <p14:creationId xmlns:p14="http://schemas.microsoft.com/office/powerpoint/2010/main" val="2306408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code using GitHub Copilot </a:t>
            </a:r>
            <a:r>
              <a:rPr lang="en-US" b="1" dirty="0" smtClean="0">
                <a:solidFill>
                  <a:srgbClr val="00B050"/>
                </a:solidFill>
              </a:rPr>
              <a:t>Chat</a:t>
            </a:r>
            <a:endParaRPr lang="en-IN" dirty="0">
              <a:solidFill>
                <a:srgbClr val="00B050"/>
              </a:solidFill>
            </a:endParaRPr>
          </a:p>
        </p:txBody>
      </p:sp>
      <p:sp>
        <p:nvSpPr>
          <p:cNvPr id="3" name="Content Placeholder 2"/>
          <p:cNvSpPr>
            <a:spLocks noGrp="1"/>
          </p:cNvSpPr>
          <p:nvPr>
            <p:ph idx="1"/>
          </p:nvPr>
        </p:nvSpPr>
        <p:spPr/>
        <p:txBody>
          <a:bodyPr/>
          <a:lstStyle/>
          <a:p>
            <a:r>
              <a:rPr lang="en-US" b="1" dirty="0">
                <a:solidFill>
                  <a:srgbClr val="FFC000"/>
                </a:solidFill>
              </a:rPr>
              <a:t>Chat View</a:t>
            </a:r>
            <a:r>
              <a:rPr lang="en-US" dirty="0">
                <a:solidFill>
                  <a:schemeClr val="bg1"/>
                </a:solidFill>
              </a:rPr>
              <a:t> provides an AI assistant that's available to help you at any time</a:t>
            </a:r>
            <a:r>
              <a:rPr lang="en-US" dirty="0" smtClean="0">
                <a:solidFill>
                  <a:schemeClr val="bg1"/>
                </a:solidFill>
              </a:rPr>
              <a:t>.</a:t>
            </a:r>
          </a:p>
          <a:p>
            <a:r>
              <a:rPr lang="en-US" b="1" dirty="0">
                <a:solidFill>
                  <a:srgbClr val="FFC000"/>
                </a:solidFill>
              </a:rPr>
              <a:t>Inline Chat</a:t>
            </a:r>
            <a:r>
              <a:rPr lang="en-US" dirty="0">
                <a:solidFill>
                  <a:schemeClr val="bg1"/>
                </a:solidFill>
              </a:rPr>
              <a:t> interface opens directly in the editor for contextual interactions while you're coding.</a:t>
            </a:r>
            <a:endParaRPr lang="en-IN" dirty="0">
              <a:solidFill>
                <a:schemeClr val="bg1"/>
              </a:solidFill>
            </a:endParaRPr>
          </a:p>
        </p:txBody>
      </p:sp>
    </p:spTree>
    <p:extLst>
      <p:ext uri="{BB962C8B-B14F-4D97-AF65-F5344CB8AC3E}">
        <p14:creationId xmlns:p14="http://schemas.microsoft.com/office/powerpoint/2010/main" val="7853164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B050"/>
                </a:solidFill>
              </a:rPr>
              <a:t>How to improve GitHub Copilot Chat responses</a:t>
            </a:r>
            <a:endParaRPr lang="en-IN" dirty="0">
              <a:solidFill>
                <a:srgbClr val="00B050"/>
              </a:solidFill>
            </a:endParaRPr>
          </a:p>
        </p:txBody>
      </p:sp>
      <p:sp>
        <p:nvSpPr>
          <p:cNvPr id="3" name="Content Placeholder 2"/>
          <p:cNvSpPr>
            <a:spLocks noGrp="1"/>
          </p:cNvSpPr>
          <p:nvPr>
            <p:ph idx="1"/>
          </p:nvPr>
        </p:nvSpPr>
        <p:spPr/>
        <p:txBody>
          <a:bodyPr>
            <a:normAutofit/>
          </a:bodyPr>
          <a:lstStyle/>
          <a:p>
            <a:r>
              <a:rPr lang="en-IN" dirty="0">
                <a:solidFill>
                  <a:schemeClr val="bg1"/>
                </a:solidFill>
              </a:rPr>
              <a:t>Scope </a:t>
            </a:r>
            <a:r>
              <a:rPr lang="en-IN" dirty="0" smtClean="0">
                <a:solidFill>
                  <a:schemeClr val="bg1"/>
                </a:solidFill>
              </a:rPr>
              <a:t>referencing:</a:t>
            </a:r>
          </a:p>
          <a:p>
            <a:pPr lvl="1"/>
            <a:r>
              <a:rPr lang="en-IN" dirty="0">
                <a:solidFill>
                  <a:schemeClr val="bg1"/>
                </a:solidFill>
              </a:rPr>
              <a:t>#</a:t>
            </a:r>
            <a:r>
              <a:rPr lang="en-IN" dirty="0" smtClean="0">
                <a:solidFill>
                  <a:schemeClr val="bg1"/>
                </a:solidFill>
              </a:rPr>
              <a:t>file: filename</a:t>
            </a:r>
          </a:p>
          <a:p>
            <a:pPr lvl="1"/>
            <a:endParaRPr lang="en-IN" dirty="0">
              <a:solidFill>
                <a:schemeClr val="bg1"/>
              </a:solidFill>
            </a:endParaRPr>
          </a:p>
          <a:p>
            <a:r>
              <a:rPr lang="en-IN" dirty="0">
                <a:solidFill>
                  <a:schemeClr val="bg1"/>
                </a:solidFill>
              </a:rPr>
              <a:t>Implicit </a:t>
            </a:r>
            <a:r>
              <a:rPr lang="en-IN" dirty="0" smtClean="0">
                <a:solidFill>
                  <a:schemeClr val="bg1"/>
                </a:solidFill>
              </a:rPr>
              <a:t>prompts like Slash commands:</a:t>
            </a:r>
          </a:p>
          <a:p>
            <a:pPr lvl="1"/>
            <a:r>
              <a:rPr lang="en-IN" smtClean="0">
                <a:solidFill>
                  <a:schemeClr val="bg1"/>
                </a:solidFill>
              </a:rPr>
              <a:t>/explain </a:t>
            </a:r>
            <a:r>
              <a:rPr lang="en-IN" dirty="0" smtClean="0">
                <a:solidFill>
                  <a:schemeClr val="bg1"/>
                </a:solidFill>
              </a:rPr>
              <a:t>/fix /new /tests</a:t>
            </a:r>
          </a:p>
          <a:p>
            <a:pPr lvl="1"/>
            <a:endParaRPr lang="en-IN" dirty="0">
              <a:solidFill>
                <a:schemeClr val="bg1"/>
              </a:solidFill>
            </a:endParaRPr>
          </a:p>
          <a:p>
            <a:r>
              <a:rPr lang="en-IN" dirty="0" err="1" smtClean="0">
                <a:solidFill>
                  <a:schemeClr val="bg1"/>
                </a:solidFill>
              </a:rPr>
              <a:t>Copilot</a:t>
            </a:r>
            <a:r>
              <a:rPr lang="en-IN" dirty="0" smtClean="0">
                <a:solidFill>
                  <a:schemeClr val="bg1"/>
                </a:solidFill>
              </a:rPr>
              <a:t> agents</a:t>
            </a:r>
          </a:p>
          <a:p>
            <a:pPr marL="742950" lvl="2" indent="-342900"/>
            <a:r>
              <a:rPr lang="en-IN" dirty="0" smtClean="0">
                <a:solidFill>
                  <a:schemeClr val="bg1"/>
                </a:solidFill>
              </a:rPr>
              <a:t>@</a:t>
            </a:r>
            <a:r>
              <a:rPr lang="en-IN" dirty="0">
                <a:solidFill>
                  <a:schemeClr val="bg1"/>
                </a:solidFill>
              </a:rPr>
              <a:t>terminal</a:t>
            </a:r>
            <a:r>
              <a:rPr lang="en-IN" dirty="0" smtClean="0">
                <a:solidFill>
                  <a:schemeClr val="bg1"/>
                </a:solidFill>
              </a:rPr>
              <a:t>, @</a:t>
            </a:r>
            <a:r>
              <a:rPr lang="en-IN" dirty="0" err="1" smtClean="0">
                <a:solidFill>
                  <a:schemeClr val="bg1"/>
                </a:solidFill>
              </a:rPr>
              <a:t>vscode</a:t>
            </a:r>
            <a:r>
              <a:rPr lang="en-IN" dirty="0" smtClean="0">
                <a:solidFill>
                  <a:schemeClr val="bg1"/>
                </a:solidFill>
              </a:rPr>
              <a:t>, @selection</a:t>
            </a:r>
            <a:r>
              <a:rPr lang="en-IN" dirty="0">
                <a:solidFill>
                  <a:schemeClr val="bg1"/>
                </a:solidFill>
              </a:rPr>
              <a:t>, </a:t>
            </a:r>
            <a:r>
              <a:rPr lang="en-IN" dirty="0" smtClean="0">
                <a:solidFill>
                  <a:schemeClr val="bg1"/>
                </a:solidFill>
              </a:rPr>
              <a:t>….</a:t>
            </a:r>
          </a:p>
          <a:p>
            <a:endParaRPr lang="en-IN" dirty="0">
              <a:solidFill>
                <a:schemeClr val="bg1"/>
              </a:solidFill>
            </a:endParaRPr>
          </a:p>
        </p:txBody>
      </p:sp>
    </p:spTree>
    <p:extLst>
      <p:ext uri="{BB962C8B-B14F-4D97-AF65-F5344CB8AC3E}">
        <p14:creationId xmlns:p14="http://schemas.microsoft.com/office/powerpoint/2010/main" val="18910997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B050"/>
                </a:solidFill>
              </a:rPr>
              <a:t>Generate code using the Chat </a:t>
            </a:r>
            <a:r>
              <a:rPr lang="en-US" b="1" dirty="0" smtClean="0">
                <a:solidFill>
                  <a:srgbClr val="00B050"/>
                </a:solidFill>
              </a:rPr>
              <a:t>view</a:t>
            </a:r>
            <a:endParaRPr lang="en-IN" dirty="0">
              <a:solidFill>
                <a:srgbClr val="00B050"/>
              </a:solidFill>
            </a:endParaRPr>
          </a:p>
        </p:txBody>
      </p:sp>
      <p:sp>
        <p:nvSpPr>
          <p:cNvPr id="3" name="Content Placeholder 2"/>
          <p:cNvSpPr>
            <a:spLocks noGrp="1"/>
          </p:cNvSpPr>
          <p:nvPr>
            <p:ph idx="1"/>
          </p:nvPr>
        </p:nvSpPr>
        <p:spPr/>
        <p:txBody>
          <a:bodyPr>
            <a:normAutofit/>
          </a:bodyPr>
          <a:lstStyle/>
          <a:p>
            <a:pPr marL="0" indent="0">
              <a:buNone/>
            </a:pPr>
            <a:r>
              <a:rPr lang="en-US" dirty="0">
                <a:solidFill>
                  <a:schemeClr val="bg1"/>
                </a:solidFill>
              </a:rPr>
              <a:t>The Chat View supports three modes: </a:t>
            </a:r>
            <a:endParaRPr lang="en-US" dirty="0" smtClean="0">
              <a:solidFill>
                <a:schemeClr val="bg1"/>
              </a:solidFill>
            </a:endParaRPr>
          </a:p>
          <a:p>
            <a:r>
              <a:rPr lang="en-US" b="1" dirty="0" smtClean="0">
                <a:solidFill>
                  <a:srgbClr val="FFC000"/>
                </a:solidFill>
              </a:rPr>
              <a:t>Ask</a:t>
            </a:r>
            <a:r>
              <a:rPr lang="en-US" dirty="0">
                <a:solidFill>
                  <a:srgbClr val="FFC000"/>
                </a:solidFill>
              </a:rPr>
              <a:t> </a:t>
            </a:r>
            <a:endParaRPr lang="en-US" dirty="0" smtClean="0">
              <a:solidFill>
                <a:srgbClr val="FFC000"/>
              </a:solidFill>
            </a:endParaRPr>
          </a:p>
          <a:p>
            <a:r>
              <a:rPr lang="en-US" b="1" dirty="0" smtClean="0">
                <a:solidFill>
                  <a:srgbClr val="FFC000"/>
                </a:solidFill>
              </a:rPr>
              <a:t>Plan</a:t>
            </a:r>
            <a:endParaRPr lang="en-US" dirty="0" smtClean="0">
              <a:solidFill>
                <a:schemeClr val="bg1"/>
              </a:solidFill>
            </a:endParaRPr>
          </a:p>
          <a:p>
            <a:r>
              <a:rPr lang="en-US" b="1" dirty="0" smtClean="0">
                <a:solidFill>
                  <a:srgbClr val="FFC000"/>
                </a:solidFill>
              </a:rPr>
              <a:t>Agent</a:t>
            </a:r>
            <a:endParaRPr lang="en-US" dirty="0" smtClean="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41815852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Ask mode</a:t>
            </a:r>
            <a:endParaRPr lang="en-IN" dirty="0">
              <a:solidFill>
                <a:srgbClr val="00B050"/>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solidFill>
                  <a:srgbClr val="FFC000"/>
                </a:solidFill>
              </a:rPr>
              <a:t>Use ask mode to generate </a:t>
            </a:r>
            <a:r>
              <a:rPr lang="en-US" b="1" dirty="0" smtClean="0">
                <a:solidFill>
                  <a:srgbClr val="FFC000"/>
                </a:solidFill>
              </a:rPr>
              <a:t>code:</a:t>
            </a:r>
            <a:endParaRPr lang="en-US" b="1" dirty="0">
              <a:solidFill>
                <a:srgbClr val="FFC000"/>
              </a:solidFill>
            </a:endParaRPr>
          </a:p>
          <a:p>
            <a:r>
              <a:rPr lang="en-US" dirty="0">
                <a:solidFill>
                  <a:schemeClr val="bg1"/>
                </a:solidFill>
              </a:rPr>
              <a:t>When you want to </a:t>
            </a:r>
            <a:r>
              <a:rPr lang="en-US" b="1" dirty="0">
                <a:solidFill>
                  <a:schemeClr val="bg1"/>
                </a:solidFill>
              </a:rPr>
              <a:t>ask questions</a:t>
            </a:r>
            <a:r>
              <a:rPr lang="en-US" dirty="0">
                <a:solidFill>
                  <a:schemeClr val="bg1"/>
                </a:solidFill>
              </a:rPr>
              <a:t>, </a:t>
            </a:r>
            <a:r>
              <a:rPr lang="en-US" b="1" dirty="0">
                <a:solidFill>
                  <a:schemeClr val="bg1"/>
                </a:solidFill>
              </a:rPr>
              <a:t>generate code snippets</a:t>
            </a:r>
            <a:r>
              <a:rPr lang="en-US" dirty="0">
                <a:solidFill>
                  <a:schemeClr val="bg1"/>
                </a:solidFill>
              </a:rPr>
              <a:t>, or get </a:t>
            </a:r>
            <a:r>
              <a:rPr lang="en-US" b="1" dirty="0">
                <a:solidFill>
                  <a:schemeClr val="bg1"/>
                </a:solidFill>
              </a:rPr>
              <a:t>explanations</a:t>
            </a:r>
            <a:r>
              <a:rPr lang="en-US" dirty="0">
                <a:solidFill>
                  <a:schemeClr val="bg1"/>
                </a:solidFill>
              </a:rPr>
              <a:t> in natural language.</a:t>
            </a:r>
          </a:p>
          <a:p>
            <a:pPr marL="0" indent="0">
              <a:buNone/>
            </a:pPr>
            <a:r>
              <a:rPr lang="en-US" b="1" dirty="0">
                <a:solidFill>
                  <a:srgbClr val="FFC000"/>
                </a:solidFill>
              </a:rPr>
              <a:t>Best For:</a:t>
            </a:r>
          </a:p>
          <a:p>
            <a:r>
              <a:rPr lang="en-US" dirty="0">
                <a:solidFill>
                  <a:schemeClr val="bg1"/>
                </a:solidFill>
              </a:rPr>
              <a:t>“How do I write a sorting algorithm in C#?”</a:t>
            </a:r>
          </a:p>
          <a:p>
            <a:r>
              <a:rPr lang="en-US" dirty="0">
                <a:solidFill>
                  <a:schemeClr val="bg1"/>
                </a:solidFill>
              </a:rPr>
              <a:t>“Explain this regex: ^[a-zA-Z0-9]+$.”</a:t>
            </a:r>
          </a:p>
          <a:p>
            <a:r>
              <a:rPr lang="en-US" dirty="0">
                <a:solidFill>
                  <a:schemeClr val="bg1"/>
                </a:solidFill>
              </a:rPr>
              <a:t>“Generate a unit test for this method.”</a:t>
            </a:r>
          </a:p>
          <a:p>
            <a:r>
              <a:rPr lang="en-US" dirty="0">
                <a:solidFill>
                  <a:schemeClr val="bg1"/>
                </a:solidFill>
              </a:rPr>
              <a:t>“What’s the difference between </a:t>
            </a:r>
            <a:r>
              <a:rPr lang="en-US" dirty="0" err="1">
                <a:solidFill>
                  <a:schemeClr val="bg1"/>
                </a:solidFill>
              </a:rPr>
              <a:t>async</a:t>
            </a:r>
            <a:r>
              <a:rPr lang="en-US" dirty="0">
                <a:solidFill>
                  <a:schemeClr val="bg1"/>
                </a:solidFill>
              </a:rPr>
              <a:t> and </a:t>
            </a:r>
            <a:r>
              <a:rPr lang="en-US" dirty="0" err="1">
                <a:solidFill>
                  <a:schemeClr val="bg1"/>
                </a:solidFill>
              </a:rPr>
              <a:t>Task.Run</a:t>
            </a:r>
            <a:r>
              <a:rPr lang="en-US" dirty="0">
                <a:solidFill>
                  <a:schemeClr val="bg1"/>
                </a:solidFill>
              </a:rPr>
              <a:t>()?”</a:t>
            </a:r>
          </a:p>
          <a:p>
            <a:endParaRPr lang="en-IN" dirty="0"/>
          </a:p>
        </p:txBody>
      </p:sp>
    </p:spTree>
    <p:extLst>
      <p:ext uri="{BB962C8B-B14F-4D97-AF65-F5344CB8AC3E}">
        <p14:creationId xmlns:p14="http://schemas.microsoft.com/office/powerpoint/2010/main" val="4146282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r>
              <a:rPr lang="en-IN" dirty="0">
                <a:solidFill>
                  <a:srgbClr val="00B050"/>
                </a:solidFill>
              </a:rPr>
              <a:t>Plan mode</a:t>
            </a:r>
          </a:p>
        </p:txBody>
      </p:sp>
      <p:sp>
        <p:nvSpPr>
          <p:cNvPr id="3" name="Content Placeholder 2"/>
          <p:cNvSpPr>
            <a:spLocks noGrp="1"/>
          </p:cNvSpPr>
          <p:nvPr>
            <p:ph idx="1"/>
          </p:nvPr>
        </p:nvSpPr>
        <p:spPr>
          <a:xfrm>
            <a:off x="457200" y="1412776"/>
            <a:ext cx="8229600" cy="4853136"/>
          </a:xfrm>
        </p:spPr>
        <p:txBody>
          <a:bodyPr>
            <a:normAutofit/>
          </a:bodyPr>
          <a:lstStyle/>
          <a:p>
            <a:pPr marL="0" indent="0">
              <a:buNone/>
            </a:pPr>
            <a:r>
              <a:rPr lang="en-US" b="1" dirty="0" smtClean="0">
                <a:solidFill>
                  <a:srgbClr val="FFC000"/>
                </a:solidFill>
              </a:rPr>
              <a:t>Steps:</a:t>
            </a:r>
            <a:endParaRPr lang="en-US" b="1" dirty="0">
              <a:solidFill>
                <a:srgbClr val="FFC000"/>
              </a:solidFill>
            </a:endParaRPr>
          </a:p>
          <a:p>
            <a:r>
              <a:rPr lang="en-US" dirty="0">
                <a:solidFill>
                  <a:schemeClr val="bg1"/>
                </a:solidFill>
              </a:rPr>
              <a:t>Use Plan Mode to break down </a:t>
            </a:r>
            <a:r>
              <a:rPr lang="en-US" dirty="0" smtClean="0">
                <a:solidFill>
                  <a:schemeClr val="bg1"/>
                </a:solidFill>
              </a:rPr>
              <a:t>requirements</a:t>
            </a:r>
          </a:p>
          <a:p>
            <a:r>
              <a:rPr lang="en-US" dirty="0" smtClean="0">
                <a:solidFill>
                  <a:schemeClr val="bg1"/>
                </a:solidFill>
              </a:rPr>
              <a:t>Convert </a:t>
            </a:r>
            <a:r>
              <a:rPr lang="en-US" dirty="0">
                <a:solidFill>
                  <a:schemeClr val="bg1"/>
                </a:solidFill>
              </a:rPr>
              <a:t>requirements → user stories → tasks → </a:t>
            </a:r>
            <a:r>
              <a:rPr lang="en-US" dirty="0" smtClean="0">
                <a:solidFill>
                  <a:schemeClr val="bg1"/>
                </a:solidFill>
              </a:rPr>
              <a:t>architecture</a:t>
            </a:r>
          </a:p>
          <a:p>
            <a:r>
              <a:rPr lang="en-US" dirty="0" smtClean="0">
                <a:solidFill>
                  <a:schemeClr val="bg1"/>
                </a:solidFill>
              </a:rPr>
              <a:t>Then </a:t>
            </a:r>
            <a:r>
              <a:rPr lang="en-US" dirty="0">
                <a:solidFill>
                  <a:schemeClr val="bg1"/>
                </a:solidFill>
              </a:rPr>
              <a:t>move to code generation.</a:t>
            </a:r>
          </a:p>
          <a:p>
            <a:endParaRPr lang="en-IN" dirty="0">
              <a:solidFill>
                <a:schemeClr val="bg1"/>
              </a:solidFill>
            </a:endParaRPr>
          </a:p>
        </p:txBody>
      </p:sp>
    </p:spTree>
    <p:extLst>
      <p:ext uri="{BB962C8B-B14F-4D97-AF65-F5344CB8AC3E}">
        <p14:creationId xmlns:p14="http://schemas.microsoft.com/office/powerpoint/2010/main" val="5916921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solidFill>
                  <a:srgbClr val="00B050"/>
                </a:solidFill>
              </a:rPr>
              <a:t>Copilot</a:t>
            </a:r>
            <a:r>
              <a:rPr lang="en-IN" dirty="0">
                <a:solidFill>
                  <a:srgbClr val="00B050"/>
                </a:solidFill>
              </a:rPr>
              <a:t> </a:t>
            </a:r>
            <a:r>
              <a:rPr lang="en-IN" dirty="0" smtClean="0">
                <a:solidFill>
                  <a:srgbClr val="00B050"/>
                </a:solidFill>
              </a:rPr>
              <a:t>Agents</a:t>
            </a:r>
            <a:endParaRPr lang="en-IN" dirty="0">
              <a:solidFill>
                <a:srgbClr val="00B050"/>
              </a:solidFill>
            </a:endParaRPr>
          </a:p>
        </p:txBody>
      </p:sp>
      <p:sp>
        <p:nvSpPr>
          <p:cNvPr id="3" name="Content Placeholder 2"/>
          <p:cNvSpPr>
            <a:spLocks noGrp="1"/>
          </p:cNvSpPr>
          <p:nvPr>
            <p:ph idx="1"/>
          </p:nvPr>
        </p:nvSpPr>
        <p:spPr>
          <a:xfrm>
            <a:off x="457200" y="1340768"/>
            <a:ext cx="8229600" cy="4785395"/>
          </a:xfrm>
        </p:spPr>
        <p:txBody>
          <a:bodyPr>
            <a:normAutofit fontScale="92500" lnSpcReduction="20000"/>
          </a:bodyPr>
          <a:lstStyle/>
          <a:p>
            <a:pPr marL="0" indent="0">
              <a:buNone/>
            </a:pPr>
            <a:r>
              <a:rPr lang="en-IN" dirty="0" smtClean="0">
                <a:solidFill>
                  <a:srgbClr val="FFC000"/>
                </a:solidFill>
              </a:rPr>
              <a:t>What </a:t>
            </a:r>
            <a:r>
              <a:rPr lang="en-IN" dirty="0">
                <a:solidFill>
                  <a:srgbClr val="FFC000"/>
                </a:solidFill>
              </a:rPr>
              <a:t>it </a:t>
            </a:r>
            <a:r>
              <a:rPr lang="en-IN" dirty="0" smtClean="0">
                <a:solidFill>
                  <a:srgbClr val="FFC000"/>
                </a:solidFill>
              </a:rPr>
              <a:t>does?</a:t>
            </a:r>
          </a:p>
          <a:p>
            <a:r>
              <a:rPr lang="en-US" dirty="0">
                <a:solidFill>
                  <a:schemeClr val="bg1"/>
                </a:solidFill>
              </a:rPr>
              <a:t>I</a:t>
            </a:r>
            <a:r>
              <a:rPr lang="en-US" dirty="0" smtClean="0">
                <a:solidFill>
                  <a:schemeClr val="bg1"/>
                </a:solidFill>
              </a:rPr>
              <a:t>nstead </a:t>
            </a:r>
            <a:r>
              <a:rPr lang="en-US" dirty="0">
                <a:solidFill>
                  <a:schemeClr val="bg1"/>
                </a:solidFill>
              </a:rPr>
              <a:t>of editing one file based on a prompt, now it can edit multiple files</a:t>
            </a:r>
            <a:r>
              <a:rPr lang="en-US" dirty="0" smtClean="0">
                <a:solidFill>
                  <a:schemeClr val="bg1"/>
                </a:solidFill>
              </a:rPr>
              <a:t>.</a:t>
            </a:r>
          </a:p>
          <a:p>
            <a:r>
              <a:rPr lang="en-US" dirty="0" smtClean="0">
                <a:solidFill>
                  <a:schemeClr val="bg1"/>
                </a:solidFill>
              </a:rPr>
              <a:t>We should know </a:t>
            </a:r>
            <a:r>
              <a:rPr lang="en-US" dirty="0">
                <a:solidFill>
                  <a:schemeClr val="bg1"/>
                </a:solidFill>
              </a:rPr>
              <a:t>the right prompt and the right files to </a:t>
            </a:r>
            <a:r>
              <a:rPr lang="en-US" dirty="0" smtClean="0">
                <a:solidFill>
                  <a:schemeClr val="bg1"/>
                </a:solidFill>
              </a:rPr>
              <a:t>indicate.</a:t>
            </a:r>
          </a:p>
          <a:p>
            <a:r>
              <a:rPr lang="en-US" dirty="0" smtClean="0">
                <a:solidFill>
                  <a:schemeClr val="bg1"/>
                </a:solidFill>
              </a:rPr>
              <a:t>We </a:t>
            </a:r>
            <a:r>
              <a:rPr lang="en-US" dirty="0">
                <a:solidFill>
                  <a:schemeClr val="bg1"/>
                </a:solidFill>
              </a:rPr>
              <a:t>can simply add new features or make big changes into our workspace with the assistance of </a:t>
            </a:r>
            <a:r>
              <a:rPr lang="en-US" dirty="0" smtClean="0">
                <a:solidFill>
                  <a:schemeClr val="bg1"/>
                </a:solidFill>
              </a:rPr>
              <a:t>GitHub Copilot </a:t>
            </a:r>
            <a:r>
              <a:rPr lang="en-US" dirty="0">
                <a:solidFill>
                  <a:schemeClr val="bg1"/>
                </a:solidFill>
              </a:rPr>
              <a:t>with just one or multiple </a:t>
            </a:r>
            <a:r>
              <a:rPr lang="en-US" dirty="0" smtClean="0">
                <a:solidFill>
                  <a:schemeClr val="bg1"/>
                </a:solidFill>
              </a:rPr>
              <a:t>prompts.</a:t>
            </a:r>
          </a:p>
          <a:p>
            <a:r>
              <a:rPr lang="en-US" dirty="0" smtClean="0">
                <a:solidFill>
                  <a:schemeClr val="bg1"/>
                </a:solidFill>
              </a:rPr>
              <a:t>So </a:t>
            </a:r>
            <a:r>
              <a:rPr lang="en-US" dirty="0">
                <a:solidFill>
                  <a:schemeClr val="bg1"/>
                </a:solidFill>
              </a:rPr>
              <a:t>we can have multiple new features inside our application.</a:t>
            </a:r>
            <a:endParaRPr lang="en-IN" dirty="0">
              <a:solidFill>
                <a:schemeClr val="bg1"/>
              </a:solidFill>
            </a:endParaRPr>
          </a:p>
        </p:txBody>
      </p:sp>
    </p:spTree>
    <p:extLst>
      <p:ext uri="{BB962C8B-B14F-4D97-AF65-F5344CB8AC3E}">
        <p14:creationId xmlns:p14="http://schemas.microsoft.com/office/powerpoint/2010/main" val="713838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en-IN" dirty="0" smtClean="0">
                <a:solidFill>
                  <a:srgbClr val="00B050"/>
                </a:solidFill>
              </a:rPr>
              <a:t>Agent mode</a:t>
            </a:r>
            <a:endParaRPr lang="en-IN" dirty="0"/>
          </a:p>
        </p:txBody>
      </p:sp>
      <p:sp>
        <p:nvSpPr>
          <p:cNvPr id="3" name="Content Placeholder 2"/>
          <p:cNvSpPr>
            <a:spLocks noGrp="1"/>
          </p:cNvSpPr>
          <p:nvPr>
            <p:ph idx="1"/>
          </p:nvPr>
        </p:nvSpPr>
        <p:spPr>
          <a:xfrm>
            <a:off x="457200" y="1124744"/>
            <a:ext cx="8229600" cy="5472608"/>
          </a:xfrm>
        </p:spPr>
        <p:txBody>
          <a:bodyPr>
            <a:normAutofit fontScale="77500" lnSpcReduction="20000"/>
          </a:bodyPr>
          <a:lstStyle/>
          <a:p>
            <a:pPr marL="0" indent="0">
              <a:buNone/>
            </a:pPr>
            <a:r>
              <a:rPr lang="en-US" b="1" dirty="0">
                <a:solidFill>
                  <a:srgbClr val="FFC000"/>
                </a:solidFill>
              </a:rPr>
              <a:t>Use agent mode to generate code</a:t>
            </a:r>
          </a:p>
          <a:p>
            <a:r>
              <a:rPr lang="en-US" dirty="0">
                <a:solidFill>
                  <a:schemeClr val="bg1"/>
                </a:solidFill>
              </a:rPr>
              <a:t>This is a </a:t>
            </a:r>
            <a:r>
              <a:rPr lang="en-US" b="1" dirty="0">
                <a:solidFill>
                  <a:schemeClr val="bg1"/>
                </a:solidFill>
              </a:rPr>
              <a:t>task-oriented assistant</a:t>
            </a:r>
            <a:r>
              <a:rPr lang="en-US" dirty="0">
                <a:solidFill>
                  <a:schemeClr val="bg1"/>
                </a:solidFill>
              </a:rPr>
              <a:t>—a higher-level automation tool that understands your repo context, opens files, modifies multiple areas, and even runs terminal commands</a:t>
            </a:r>
            <a:r>
              <a:rPr lang="en-US" dirty="0" smtClean="0">
                <a:solidFill>
                  <a:schemeClr val="bg1"/>
                </a:solidFill>
              </a:rPr>
              <a:t>.</a:t>
            </a:r>
          </a:p>
          <a:p>
            <a:pPr marL="0" indent="0">
              <a:buNone/>
            </a:pPr>
            <a:r>
              <a:rPr lang="en-US" b="1" dirty="0">
                <a:solidFill>
                  <a:srgbClr val="FFC000"/>
                </a:solidFill>
              </a:rPr>
              <a:t>Use Case:</a:t>
            </a:r>
          </a:p>
          <a:p>
            <a:r>
              <a:rPr lang="en-US" dirty="0">
                <a:solidFill>
                  <a:schemeClr val="bg1"/>
                </a:solidFill>
              </a:rPr>
              <a:t>When you want Copilot to </a:t>
            </a:r>
            <a:r>
              <a:rPr lang="en-US" b="1" dirty="0">
                <a:solidFill>
                  <a:schemeClr val="bg1"/>
                </a:solidFill>
              </a:rPr>
              <a:t>perform complex tasks</a:t>
            </a:r>
            <a:r>
              <a:rPr lang="en-US" dirty="0">
                <a:solidFill>
                  <a:schemeClr val="bg1"/>
                </a:solidFill>
              </a:rPr>
              <a:t>, like implementing features, setting up tests, or editing multiple files across a repo.</a:t>
            </a:r>
          </a:p>
          <a:p>
            <a:pPr marL="0" indent="0">
              <a:buNone/>
            </a:pPr>
            <a:r>
              <a:rPr lang="en-US" b="1" dirty="0" smtClean="0">
                <a:solidFill>
                  <a:srgbClr val="FFC000"/>
                </a:solidFill>
              </a:rPr>
              <a:t>Best </a:t>
            </a:r>
            <a:r>
              <a:rPr lang="en-US" b="1" dirty="0">
                <a:solidFill>
                  <a:srgbClr val="FFC000"/>
                </a:solidFill>
              </a:rPr>
              <a:t>For:</a:t>
            </a:r>
          </a:p>
          <a:p>
            <a:r>
              <a:rPr lang="en-US" dirty="0">
                <a:solidFill>
                  <a:schemeClr val="bg1"/>
                </a:solidFill>
              </a:rPr>
              <a:t>“Add logging to all API methods.”</a:t>
            </a:r>
          </a:p>
          <a:p>
            <a:r>
              <a:rPr lang="en-US" dirty="0">
                <a:solidFill>
                  <a:schemeClr val="bg1"/>
                </a:solidFill>
              </a:rPr>
              <a:t>“Generate </a:t>
            </a:r>
            <a:r>
              <a:rPr lang="en-US" dirty="0" smtClean="0">
                <a:solidFill>
                  <a:schemeClr val="bg1"/>
                </a:solidFill>
              </a:rPr>
              <a:t>tests </a:t>
            </a:r>
            <a:r>
              <a:rPr lang="en-US" dirty="0">
                <a:solidFill>
                  <a:schemeClr val="bg1"/>
                </a:solidFill>
              </a:rPr>
              <a:t>for all services.”</a:t>
            </a:r>
          </a:p>
          <a:p>
            <a:r>
              <a:rPr lang="en-US" dirty="0">
                <a:solidFill>
                  <a:schemeClr val="bg1"/>
                </a:solidFill>
              </a:rPr>
              <a:t>“Create a new REST endpoint to return top-selling products.”</a:t>
            </a:r>
          </a:p>
          <a:p>
            <a:r>
              <a:rPr lang="en-US" dirty="0">
                <a:solidFill>
                  <a:schemeClr val="bg1"/>
                </a:solidFill>
              </a:rPr>
              <a:t>“Add </a:t>
            </a:r>
            <a:r>
              <a:rPr lang="en-US" dirty="0" err="1">
                <a:solidFill>
                  <a:schemeClr val="bg1"/>
                </a:solidFill>
              </a:rPr>
              <a:t>Serilog</a:t>
            </a:r>
            <a:r>
              <a:rPr lang="en-US" dirty="0">
                <a:solidFill>
                  <a:schemeClr val="bg1"/>
                </a:solidFill>
              </a:rPr>
              <a:t> setup and update configuration files.”</a:t>
            </a:r>
          </a:p>
          <a:p>
            <a:endParaRPr lang="en-IN" dirty="0"/>
          </a:p>
        </p:txBody>
      </p:sp>
    </p:spTree>
    <p:extLst>
      <p:ext uri="{BB962C8B-B14F-4D97-AF65-F5344CB8AC3E}">
        <p14:creationId xmlns:p14="http://schemas.microsoft.com/office/powerpoint/2010/main" val="8214266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Inline chat</a:t>
            </a:r>
            <a:endParaRPr lang="en-IN" dirty="0">
              <a:solidFill>
                <a:srgbClr val="00B050"/>
              </a:solidFill>
            </a:endParaRPr>
          </a:p>
        </p:txBody>
      </p:sp>
      <p:sp>
        <p:nvSpPr>
          <p:cNvPr id="3" name="Content Placeholder 2"/>
          <p:cNvSpPr>
            <a:spLocks noGrp="1"/>
          </p:cNvSpPr>
          <p:nvPr>
            <p:ph idx="1"/>
          </p:nvPr>
        </p:nvSpPr>
        <p:spPr/>
        <p:txBody>
          <a:bodyPr/>
          <a:lstStyle/>
          <a:p>
            <a:pPr marL="0" indent="0">
              <a:buNone/>
            </a:pPr>
            <a:r>
              <a:rPr lang="en-IN" b="1" dirty="0">
                <a:solidFill>
                  <a:srgbClr val="FFC000"/>
                </a:solidFill>
              </a:rPr>
              <a:t>Generate code using an inline chat session</a:t>
            </a:r>
          </a:p>
          <a:p>
            <a:r>
              <a:rPr lang="en-US" dirty="0">
                <a:solidFill>
                  <a:schemeClr val="bg1"/>
                </a:solidFill>
              </a:rPr>
              <a:t>Inline chat session can be used to analyze and generate code. </a:t>
            </a:r>
            <a:endParaRPr lang="en-US" dirty="0" smtClean="0">
              <a:solidFill>
                <a:schemeClr val="bg1"/>
              </a:solidFill>
            </a:endParaRPr>
          </a:p>
          <a:p>
            <a:r>
              <a:rPr lang="en-US" dirty="0" smtClean="0">
                <a:solidFill>
                  <a:schemeClr val="bg1"/>
                </a:solidFill>
              </a:rPr>
              <a:t>The </a:t>
            </a:r>
            <a:r>
              <a:rPr lang="en-US" dirty="0">
                <a:solidFill>
                  <a:schemeClr val="bg1"/>
                </a:solidFill>
              </a:rPr>
              <a:t>inline chat interface is only accessible when a file is open in the code editor. </a:t>
            </a:r>
            <a:endParaRPr lang="en-US" dirty="0" smtClean="0">
              <a:solidFill>
                <a:schemeClr val="bg1"/>
              </a:solidFill>
            </a:endParaRPr>
          </a:p>
          <a:p>
            <a:r>
              <a:rPr lang="en-US" dirty="0" smtClean="0">
                <a:solidFill>
                  <a:schemeClr val="bg1"/>
                </a:solidFill>
              </a:rPr>
              <a:t>It </a:t>
            </a:r>
            <a:r>
              <a:rPr lang="en-US" dirty="0">
                <a:solidFill>
                  <a:schemeClr val="bg1"/>
                </a:solidFill>
              </a:rPr>
              <a:t>can be used to analyze selected code or create new code based on a prompt.</a:t>
            </a:r>
            <a:endParaRPr lang="en-IN" dirty="0">
              <a:solidFill>
                <a:schemeClr val="bg1"/>
              </a:solidFill>
            </a:endParaRPr>
          </a:p>
        </p:txBody>
      </p:sp>
    </p:spTree>
    <p:extLst>
      <p:ext uri="{BB962C8B-B14F-4D97-AF65-F5344CB8AC3E}">
        <p14:creationId xmlns:p14="http://schemas.microsoft.com/office/powerpoint/2010/main" val="23092886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92896"/>
            <a:ext cx="8229600" cy="1143000"/>
          </a:xfrm>
        </p:spPr>
        <p:txBody>
          <a:bodyPr/>
          <a:lstStyle/>
          <a:p>
            <a:r>
              <a:rPr lang="en-IN" b="1" dirty="0" smtClean="0">
                <a:solidFill>
                  <a:schemeClr val="bg1"/>
                </a:solidFill>
              </a:rPr>
              <a:t>REFACTORING</a:t>
            </a:r>
            <a:endParaRPr lang="en-IN" b="1" dirty="0">
              <a:solidFill>
                <a:schemeClr val="bg1"/>
              </a:solidFill>
            </a:endParaRPr>
          </a:p>
        </p:txBody>
      </p:sp>
    </p:spTree>
    <p:extLst>
      <p:ext uri="{BB962C8B-B14F-4D97-AF65-F5344CB8AC3E}">
        <p14:creationId xmlns:p14="http://schemas.microsoft.com/office/powerpoint/2010/main" val="33398998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Common code refactoring </a:t>
            </a:r>
            <a:r>
              <a:rPr lang="en-IN" b="1" dirty="0" smtClean="0">
                <a:solidFill>
                  <a:srgbClr val="00B050"/>
                </a:solidFill>
              </a:rPr>
              <a:t>scenarios</a:t>
            </a:r>
            <a:endParaRPr lang="en-IN" dirty="0">
              <a:solidFill>
                <a:srgbClr val="00B050"/>
              </a:solidFill>
            </a:endParaRPr>
          </a:p>
        </p:txBody>
      </p:sp>
      <p:sp>
        <p:nvSpPr>
          <p:cNvPr id="3" name="Content Placeholder 2"/>
          <p:cNvSpPr>
            <a:spLocks noGrp="1"/>
          </p:cNvSpPr>
          <p:nvPr>
            <p:ph idx="1"/>
          </p:nvPr>
        </p:nvSpPr>
        <p:spPr/>
        <p:txBody>
          <a:bodyPr>
            <a:normAutofit fontScale="92500"/>
          </a:bodyPr>
          <a:lstStyle/>
          <a:p>
            <a:pPr marL="0" indent="0">
              <a:buNone/>
            </a:pPr>
            <a:r>
              <a:rPr lang="en-US" dirty="0">
                <a:solidFill>
                  <a:srgbClr val="FFC000"/>
                </a:solidFill>
              </a:rPr>
              <a:t>The following list includes some common scenarios for refactoring code</a:t>
            </a:r>
            <a:r>
              <a:rPr lang="en-US" dirty="0" smtClean="0">
                <a:solidFill>
                  <a:srgbClr val="FFC000"/>
                </a:solidFill>
              </a:rPr>
              <a:t>:</a:t>
            </a:r>
          </a:p>
          <a:p>
            <a:r>
              <a:rPr lang="en-US" dirty="0">
                <a:solidFill>
                  <a:schemeClr val="bg1"/>
                </a:solidFill>
              </a:rPr>
              <a:t>Optimizing inefficient code</a:t>
            </a:r>
          </a:p>
          <a:p>
            <a:r>
              <a:rPr lang="en-US" dirty="0">
                <a:solidFill>
                  <a:schemeClr val="bg1"/>
                </a:solidFill>
              </a:rPr>
              <a:t>Cleaning up repeated code</a:t>
            </a:r>
          </a:p>
          <a:p>
            <a:r>
              <a:rPr lang="en-US" dirty="0">
                <a:solidFill>
                  <a:schemeClr val="bg1"/>
                </a:solidFill>
              </a:rPr>
              <a:t>Making code more concise</a:t>
            </a:r>
          </a:p>
          <a:p>
            <a:r>
              <a:rPr lang="en-US" dirty="0">
                <a:solidFill>
                  <a:schemeClr val="bg1"/>
                </a:solidFill>
              </a:rPr>
              <a:t>Splitting up complex units of code</a:t>
            </a:r>
          </a:p>
          <a:p>
            <a:r>
              <a:rPr lang="en-US" dirty="0">
                <a:solidFill>
                  <a:schemeClr val="bg1"/>
                </a:solidFill>
              </a:rPr>
              <a:t>Rewriting conditional code for better readability</a:t>
            </a:r>
          </a:p>
          <a:p>
            <a:r>
              <a:rPr lang="en-US" dirty="0">
                <a:solidFill>
                  <a:schemeClr val="bg1"/>
                </a:solidFill>
              </a:rPr>
              <a:t>Reformatting code to use a different structure</a:t>
            </a:r>
          </a:p>
          <a:p>
            <a:endParaRPr lang="en-IN" dirty="0">
              <a:solidFill>
                <a:schemeClr val="bg1"/>
              </a:solidFill>
            </a:endParaRPr>
          </a:p>
        </p:txBody>
      </p:sp>
    </p:spTree>
    <p:extLst>
      <p:ext uri="{BB962C8B-B14F-4D97-AF65-F5344CB8AC3E}">
        <p14:creationId xmlns:p14="http://schemas.microsoft.com/office/powerpoint/2010/main" val="13957534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Use GitHub Copilot to optimize inefficient </a:t>
            </a:r>
            <a:r>
              <a:rPr lang="en-US" b="1" dirty="0" smtClean="0">
                <a:solidFill>
                  <a:srgbClr val="00B050"/>
                </a:solidFill>
              </a:rPr>
              <a:t>code</a:t>
            </a:r>
            <a:endParaRPr lang="en-IN" dirty="0">
              <a:solidFill>
                <a:srgbClr val="00B050"/>
              </a:solidFill>
            </a:endParaRPr>
          </a:p>
        </p:txBody>
      </p:sp>
      <p:sp>
        <p:nvSpPr>
          <p:cNvPr id="3" name="Content Placeholder 2"/>
          <p:cNvSpPr>
            <a:spLocks noGrp="1"/>
          </p:cNvSpPr>
          <p:nvPr>
            <p:ph idx="1"/>
          </p:nvPr>
        </p:nvSpPr>
        <p:spPr/>
        <p:txBody>
          <a:bodyPr/>
          <a:lstStyle/>
          <a:p>
            <a:r>
              <a:rPr lang="en-US" b="1" dirty="0">
                <a:solidFill>
                  <a:schemeClr val="bg1"/>
                </a:solidFill>
              </a:rPr>
              <a:t>Use Inline Chat to refactor code</a:t>
            </a:r>
          </a:p>
          <a:p>
            <a:r>
              <a:rPr lang="en-US" b="1" dirty="0">
                <a:solidFill>
                  <a:schemeClr val="bg1"/>
                </a:solidFill>
              </a:rPr>
              <a:t>Refactor code using GitHub Copilot Chat modes</a:t>
            </a:r>
          </a:p>
          <a:p>
            <a:pPr lvl="1"/>
            <a:r>
              <a:rPr lang="en-IN" dirty="0" smtClean="0">
                <a:solidFill>
                  <a:srgbClr val="FFC000"/>
                </a:solidFill>
              </a:rPr>
              <a:t>Ask mode</a:t>
            </a:r>
          </a:p>
          <a:p>
            <a:pPr lvl="1"/>
            <a:r>
              <a:rPr lang="en-IN" dirty="0" smtClean="0">
                <a:solidFill>
                  <a:srgbClr val="FFC000"/>
                </a:solidFill>
              </a:rPr>
              <a:t>Agent mode</a:t>
            </a:r>
          </a:p>
          <a:p>
            <a:r>
              <a:rPr lang="en-US" b="1" dirty="0">
                <a:solidFill>
                  <a:schemeClr val="bg1"/>
                </a:solidFill>
              </a:rPr>
              <a:t>Refactor code using inline chat and the Chat view in </a:t>
            </a:r>
            <a:r>
              <a:rPr lang="en-US" b="1" dirty="0" smtClean="0">
                <a:solidFill>
                  <a:schemeClr val="bg1"/>
                </a:solidFill>
              </a:rPr>
              <a:t>Agent </a:t>
            </a:r>
            <a:r>
              <a:rPr lang="en-US" b="1" dirty="0">
                <a:solidFill>
                  <a:schemeClr val="bg1"/>
                </a:solidFill>
              </a:rPr>
              <a:t>modes</a:t>
            </a:r>
          </a:p>
          <a:p>
            <a:endParaRPr lang="en-IN" dirty="0">
              <a:solidFill>
                <a:schemeClr val="bg1"/>
              </a:solidFill>
            </a:endParaRPr>
          </a:p>
        </p:txBody>
      </p:sp>
    </p:spTree>
    <p:extLst>
      <p:ext uri="{BB962C8B-B14F-4D97-AF65-F5344CB8AC3E}">
        <p14:creationId xmlns:p14="http://schemas.microsoft.com/office/powerpoint/2010/main" val="2800152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92896"/>
            <a:ext cx="8229600" cy="1143000"/>
          </a:xfrm>
        </p:spPr>
        <p:txBody>
          <a:bodyPr/>
          <a:lstStyle/>
          <a:p>
            <a:r>
              <a:rPr lang="en-IN" b="1" dirty="0" smtClean="0">
                <a:solidFill>
                  <a:schemeClr val="bg1"/>
                </a:solidFill>
              </a:rPr>
              <a:t>TESTING</a:t>
            </a:r>
            <a:endParaRPr lang="en-IN" b="1" dirty="0">
              <a:solidFill>
                <a:schemeClr val="bg1"/>
              </a:solidFill>
            </a:endParaRPr>
          </a:p>
        </p:txBody>
      </p:sp>
    </p:spTree>
    <p:extLst>
      <p:ext uri="{BB962C8B-B14F-4D97-AF65-F5344CB8AC3E}">
        <p14:creationId xmlns:p14="http://schemas.microsoft.com/office/powerpoint/2010/main" val="19520168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GitHub Copilot support for unit </a:t>
            </a:r>
            <a:r>
              <a:rPr lang="en-US" b="1" dirty="0" smtClean="0">
                <a:solidFill>
                  <a:srgbClr val="00B050"/>
                </a:solidFill>
              </a:rPr>
              <a:t>testing</a:t>
            </a:r>
            <a:endParaRPr lang="en-IN"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r>
              <a:rPr lang="en-US" dirty="0">
                <a:solidFill>
                  <a:schemeClr val="bg1"/>
                </a:solidFill>
              </a:rPr>
              <a:t>GitHub Copilot Chat can be used to suggest unit tests based on the code you specify</a:t>
            </a:r>
            <a:r>
              <a:rPr lang="en-US" dirty="0" smtClean="0">
                <a:solidFill>
                  <a:schemeClr val="bg1"/>
                </a:solidFill>
              </a:rPr>
              <a:t>.</a:t>
            </a:r>
          </a:p>
          <a:p>
            <a:r>
              <a:rPr lang="en-US" dirty="0">
                <a:solidFill>
                  <a:schemeClr val="bg1"/>
                </a:solidFill>
              </a:rPr>
              <a:t>It also helps you write test cases for edge cases and boundary conditions that might be difficult to identify manually. </a:t>
            </a:r>
            <a:endParaRPr lang="en-US" dirty="0" smtClean="0">
              <a:solidFill>
                <a:schemeClr val="bg1"/>
              </a:solidFill>
            </a:endParaRPr>
          </a:p>
          <a:p>
            <a:r>
              <a:rPr lang="en-US" dirty="0" smtClean="0">
                <a:solidFill>
                  <a:schemeClr val="bg1"/>
                </a:solidFill>
              </a:rPr>
              <a:t>For </a:t>
            </a:r>
            <a:r>
              <a:rPr lang="en-US" dirty="0">
                <a:solidFill>
                  <a:schemeClr val="bg1"/>
                </a:solidFill>
              </a:rPr>
              <a:t>example, GitHub Copilot Chat can suggest test cases for error handling, null values, or unexpected input types.</a:t>
            </a:r>
            <a:endParaRPr lang="en-US" dirty="0" smtClean="0">
              <a:solidFill>
                <a:schemeClr val="bg1"/>
              </a:solidFill>
            </a:endParaRPr>
          </a:p>
          <a:p>
            <a:pPr lvl="1"/>
            <a:r>
              <a:rPr lang="en-US" dirty="0">
                <a:solidFill>
                  <a:srgbClr val="FFC000"/>
                </a:solidFill>
              </a:rPr>
              <a:t>Generated test cases may not cover all possible scenarios. Manual testing and code reviews are necessary to ensure the quality of your code</a:t>
            </a:r>
            <a:endParaRPr lang="en-IN" dirty="0">
              <a:solidFill>
                <a:srgbClr val="FFC000"/>
              </a:solidFill>
            </a:endParaRPr>
          </a:p>
        </p:txBody>
      </p:sp>
    </p:spTree>
    <p:extLst>
      <p:ext uri="{BB962C8B-B14F-4D97-AF65-F5344CB8AC3E}">
        <p14:creationId xmlns:p14="http://schemas.microsoft.com/office/powerpoint/2010/main" val="24724543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GitHub Copilot support for unit </a:t>
            </a:r>
            <a:r>
              <a:rPr lang="en-US" b="1" dirty="0" smtClean="0">
                <a:solidFill>
                  <a:srgbClr val="00B050"/>
                </a:solidFill>
              </a:rPr>
              <a:t>testing</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solidFill>
                  <a:schemeClr val="bg1"/>
                </a:solidFill>
              </a:rPr>
              <a:t>Copilot can help with the following testing tasks:</a:t>
            </a:r>
          </a:p>
          <a:p>
            <a:r>
              <a:rPr lang="en-US" dirty="0">
                <a:solidFill>
                  <a:srgbClr val="FFC000"/>
                </a:solidFill>
              </a:rPr>
              <a:t>Set up testing frameworks: </a:t>
            </a:r>
            <a:r>
              <a:rPr lang="en-US" dirty="0">
                <a:solidFill>
                  <a:schemeClr val="bg1"/>
                </a:solidFill>
              </a:rPr>
              <a:t>get help configuring the right testing framework and VS Code extensions for your project and language.</a:t>
            </a:r>
          </a:p>
          <a:p>
            <a:r>
              <a:rPr lang="en-US" dirty="0">
                <a:solidFill>
                  <a:srgbClr val="FFC000"/>
                </a:solidFill>
              </a:rPr>
              <a:t>Generate test code: </a:t>
            </a:r>
            <a:r>
              <a:rPr lang="en-US" dirty="0">
                <a:solidFill>
                  <a:schemeClr val="bg1"/>
                </a:solidFill>
              </a:rPr>
              <a:t>create unit tests, integration tests, and end-to-end tests that cover your application code.</a:t>
            </a:r>
          </a:p>
          <a:p>
            <a:r>
              <a:rPr lang="en-US" dirty="0">
                <a:solidFill>
                  <a:srgbClr val="FFC000"/>
                </a:solidFill>
              </a:rPr>
              <a:t>Handle edge cases: </a:t>
            </a:r>
            <a:r>
              <a:rPr lang="en-US" dirty="0">
                <a:solidFill>
                  <a:schemeClr val="bg1"/>
                </a:solidFill>
              </a:rPr>
              <a:t>generate comprehensive test suites to cover edge cases and error conditions.</a:t>
            </a:r>
          </a:p>
          <a:p>
            <a:r>
              <a:rPr lang="en-US" dirty="0">
                <a:solidFill>
                  <a:srgbClr val="FFC000"/>
                </a:solidFill>
              </a:rPr>
              <a:t>Fix failing tests: </a:t>
            </a:r>
            <a:r>
              <a:rPr lang="en-US" dirty="0">
                <a:solidFill>
                  <a:schemeClr val="bg1"/>
                </a:solidFill>
              </a:rPr>
              <a:t>receive suggestions for fixing test failures.</a:t>
            </a:r>
          </a:p>
          <a:p>
            <a:r>
              <a:rPr lang="en-US" dirty="0">
                <a:solidFill>
                  <a:srgbClr val="FFC000"/>
                </a:solidFill>
              </a:rPr>
              <a:t>Maintain consistency: </a:t>
            </a:r>
            <a:r>
              <a:rPr lang="en-US" dirty="0">
                <a:solidFill>
                  <a:schemeClr val="bg1"/>
                </a:solidFill>
              </a:rPr>
              <a:t>personalize Copilot to generate tests that follow your project's coding practices.</a:t>
            </a:r>
          </a:p>
          <a:p>
            <a:endParaRPr lang="en-IN" dirty="0">
              <a:solidFill>
                <a:schemeClr val="bg1"/>
              </a:solidFill>
            </a:endParaRPr>
          </a:p>
        </p:txBody>
      </p:sp>
    </p:spTree>
    <p:extLst>
      <p:ext uri="{BB962C8B-B14F-4D97-AF65-F5344CB8AC3E}">
        <p14:creationId xmlns:p14="http://schemas.microsoft.com/office/powerpoint/2010/main" val="42266525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B050"/>
                </a:solidFill>
              </a:rPr>
              <a:t>Set up your testing </a:t>
            </a:r>
            <a:r>
              <a:rPr lang="en-US" b="1" dirty="0" smtClean="0">
                <a:solidFill>
                  <a:srgbClr val="00B050"/>
                </a:solidFill>
              </a:rPr>
              <a:t>framework</a:t>
            </a:r>
            <a:endParaRPr lang="en-IN" dirty="0">
              <a:solidFill>
                <a:srgbClr val="00B050"/>
              </a:solidFill>
            </a:endParaRPr>
          </a:p>
        </p:txBody>
      </p:sp>
      <p:sp>
        <p:nvSpPr>
          <p:cNvPr id="3" name="Content Placeholder 2"/>
          <p:cNvSpPr>
            <a:spLocks noGrp="1"/>
          </p:cNvSpPr>
          <p:nvPr>
            <p:ph idx="1"/>
          </p:nvPr>
        </p:nvSpPr>
        <p:spPr/>
        <p:txBody>
          <a:bodyPr>
            <a:normAutofit lnSpcReduction="10000"/>
          </a:bodyPr>
          <a:lstStyle/>
          <a:p>
            <a:pPr marL="0" indent="0">
              <a:buNone/>
            </a:pPr>
            <a:r>
              <a:rPr lang="en-US" dirty="0" smtClean="0">
                <a:solidFill>
                  <a:schemeClr val="bg1"/>
                </a:solidFill>
              </a:rPr>
              <a:t>Copilot </a:t>
            </a:r>
            <a:r>
              <a:rPr lang="en-US" dirty="0">
                <a:solidFill>
                  <a:schemeClr val="bg1"/>
                </a:solidFill>
              </a:rPr>
              <a:t>can help set up the testing framework and VS Code extensions for your project. Copilot suggests appropriate testing frameworks based on your project type.</a:t>
            </a:r>
          </a:p>
          <a:p>
            <a:pPr marL="514350" indent="-514350">
              <a:buFont typeface="+mj-lt"/>
              <a:buAutoNum type="arabicPeriod"/>
            </a:pPr>
            <a:r>
              <a:rPr lang="en-US" dirty="0">
                <a:solidFill>
                  <a:schemeClr val="bg1"/>
                </a:solidFill>
              </a:rPr>
              <a:t>Open the Chat view.</a:t>
            </a:r>
          </a:p>
          <a:p>
            <a:pPr marL="514350" indent="-514350">
              <a:buFont typeface="+mj-lt"/>
              <a:buAutoNum type="arabicPeriod"/>
            </a:pPr>
            <a:r>
              <a:rPr lang="en-US" dirty="0">
                <a:solidFill>
                  <a:schemeClr val="bg1"/>
                </a:solidFill>
              </a:rPr>
              <a:t>Enter the </a:t>
            </a:r>
            <a:r>
              <a:rPr lang="en-US" dirty="0">
                <a:solidFill>
                  <a:srgbClr val="FFC000"/>
                </a:solidFill>
              </a:rPr>
              <a:t>/</a:t>
            </a:r>
            <a:r>
              <a:rPr lang="en-US" dirty="0" err="1">
                <a:solidFill>
                  <a:srgbClr val="FFC000"/>
                </a:solidFill>
              </a:rPr>
              <a:t>setupTests</a:t>
            </a:r>
            <a:r>
              <a:rPr lang="en-US" dirty="0">
                <a:solidFill>
                  <a:schemeClr val="bg1"/>
                </a:solidFill>
              </a:rPr>
              <a:t> command in the chat input field.</a:t>
            </a:r>
          </a:p>
          <a:p>
            <a:pPr marL="514350" indent="-514350">
              <a:buFont typeface="+mj-lt"/>
              <a:buAutoNum type="arabicPeriod"/>
            </a:pPr>
            <a:r>
              <a:rPr lang="en-US" dirty="0">
                <a:solidFill>
                  <a:schemeClr val="bg1"/>
                </a:solidFill>
              </a:rPr>
              <a:t>Follow GitHub Copilot's guidance to configure your project.</a:t>
            </a:r>
          </a:p>
          <a:p>
            <a:endParaRPr lang="en-IN" dirty="0">
              <a:solidFill>
                <a:schemeClr val="bg1"/>
              </a:solidFill>
            </a:endParaRPr>
          </a:p>
        </p:txBody>
      </p:sp>
    </p:spTree>
    <p:extLst>
      <p:ext uri="{BB962C8B-B14F-4D97-AF65-F5344CB8AC3E}">
        <p14:creationId xmlns:p14="http://schemas.microsoft.com/office/powerpoint/2010/main" val="35640033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Write unit tests with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a:xfrm>
            <a:off x="457200" y="1484784"/>
            <a:ext cx="8229600" cy="4824536"/>
          </a:xfrm>
        </p:spPr>
        <p:txBody>
          <a:bodyPr>
            <a:normAutofit/>
          </a:bodyPr>
          <a:lstStyle/>
          <a:p>
            <a:pPr marL="0" indent="0">
              <a:buNone/>
            </a:pPr>
            <a:r>
              <a:rPr lang="en-US" dirty="0">
                <a:solidFill>
                  <a:schemeClr val="bg1"/>
                </a:solidFill>
              </a:rPr>
              <a:t>You can generate unit tests using the following GitHub Copilot tools:</a:t>
            </a:r>
          </a:p>
          <a:p>
            <a:r>
              <a:rPr lang="en-US" b="1" dirty="0">
                <a:solidFill>
                  <a:srgbClr val="FFC000"/>
                </a:solidFill>
              </a:rPr>
              <a:t>Chat view</a:t>
            </a:r>
            <a:r>
              <a:rPr lang="en-US" dirty="0">
                <a:solidFill>
                  <a:srgbClr val="FFC000"/>
                </a:solidFill>
              </a:rPr>
              <a:t>: </a:t>
            </a:r>
            <a:r>
              <a:rPr lang="en-US" dirty="0">
                <a:solidFill>
                  <a:schemeClr val="bg1"/>
                </a:solidFill>
              </a:rPr>
              <a:t>Use the Chat view generate unit tests for a project, class, or method using Ask, Edit, or Agent mode.</a:t>
            </a:r>
          </a:p>
          <a:p>
            <a:r>
              <a:rPr lang="en-US" b="1" dirty="0">
                <a:solidFill>
                  <a:srgbClr val="FFC000"/>
                </a:solidFill>
              </a:rPr>
              <a:t>Inline Chat</a:t>
            </a:r>
            <a:r>
              <a:rPr lang="en-US" dirty="0">
                <a:solidFill>
                  <a:srgbClr val="FFC000"/>
                </a:solidFill>
              </a:rPr>
              <a:t>: </a:t>
            </a:r>
            <a:r>
              <a:rPr lang="en-US" dirty="0">
                <a:solidFill>
                  <a:schemeClr val="bg1"/>
                </a:solidFill>
              </a:rPr>
              <a:t>Use Inline Chat to generate unit tests for selected classes or methods.</a:t>
            </a:r>
          </a:p>
          <a:p>
            <a:endParaRPr lang="en-IN" dirty="0">
              <a:solidFill>
                <a:schemeClr val="bg1"/>
              </a:solidFill>
            </a:endParaRPr>
          </a:p>
        </p:txBody>
      </p:sp>
    </p:spTree>
    <p:extLst>
      <p:ext uri="{BB962C8B-B14F-4D97-AF65-F5344CB8AC3E}">
        <p14:creationId xmlns:p14="http://schemas.microsoft.com/office/powerpoint/2010/main" val="13785197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00B050"/>
                </a:solidFill>
              </a:rPr>
              <a:t>Fix failing </a:t>
            </a:r>
            <a:r>
              <a:rPr lang="en-IN" b="1" dirty="0" smtClean="0">
                <a:solidFill>
                  <a:srgbClr val="00B050"/>
                </a:solidFill>
              </a:rPr>
              <a:t>tests</a:t>
            </a:r>
            <a:endParaRPr lang="en-IN" dirty="0">
              <a:solidFill>
                <a:srgbClr val="00B050"/>
              </a:solidFill>
            </a:endParaRPr>
          </a:p>
        </p:txBody>
      </p:sp>
      <p:sp>
        <p:nvSpPr>
          <p:cNvPr id="3" name="Content Placeholder 2"/>
          <p:cNvSpPr>
            <a:spLocks noGrp="1"/>
          </p:cNvSpPr>
          <p:nvPr>
            <p:ph idx="1"/>
          </p:nvPr>
        </p:nvSpPr>
        <p:spPr>
          <a:xfrm>
            <a:off x="457200" y="1268760"/>
            <a:ext cx="8229600" cy="5112568"/>
          </a:xfrm>
        </p:spPr>
        <p:txBody>
          <a:bodyPr>
            <a:normAutofit fontScale="77500" lnSpcReduction="20000"/>
          </a:bodyPr>
          <a:lstStyle/>
          <a:p>
            <a:pPr marL="0" indent="0">
              <a:buNone/>
            </a:pPr>
            <a:r>
              <a:rPr lang="en-US" dirty="0">
                <a:solidFill>
                  <a:schemeClr val="bg1"/>
                </a:solidFill>
              </a:rPr>
              <a:t>Copilot integrates with the Test Explorer in Visual Studio Code and can help with fixing failing tests.</a:t>
            </a:r>
          </a:p>
          <a:p>
            <a:r>
              <a:rPr lang="en-US" dirty="0">
                <a:solidFill>
                  <a:schemeClr val="bg1"/>
                </a:solidFill>
              </a:rPr>
              <a:t>In the Test Explorer, hover over a failing test.</a:t>
            </a:r>
          </a:p>
          <a:p>
            <a:r>
              <a:rPr lang="en-US" dirty="0">
                <a:solidFill>
                  <a:schemeClr val="bg1"/>
                </a:solidFill>
              </a:rPr>
              <a:t>Select the </a:t>
            </a:r>
            <a:r>
              <a:rPr lang="en-US" b="1" dirty="0">
                <a:solidFill>
                  <a:schemeClr val="bg1"/>
                </a:solidFill>
              </a:rPr>
              <a:t>Fix Test Failure</a:t>
            </a:r>
            <a:r>
              <a:rPr lang="en-US" dirty="0">
                <a:solidFill>
                  <a:schemeClr val="bg1"/>
                </a:solidFill>
              </a:rPr>
              <a:t> button (sparkle icon)</a:t>
            </a:r>
          </a:p>
          <a:p>
            <a:r>
              <a:rPr lang="en-US" dirty="0">
                <a:solidFill>
                  <a:schemeClr val="bg1"/>
                </a:solidFill>
              </a:rPr>
              <a:t>Review and apply Copilot's suggested fix</a:t>
            </a:r>
            <a:r>
              <a:rPr lang="en-US" dirty="0" smtClean="0">
                <a:solidFill>
                  <a:schemeClr val="bg1"/>
                </a:solidFill>
              </a:rPr>
              <a:t>.</a:t>
            </a:r>
          </a:p>
          <a:p>
            <a:endParaRPr lang="en-US" dirty="0">
              <a:solidFill>
                <a:schemeClr val="bg1"/>
              </a:solidFill>
            </a:endParaRPr>
          </a:p>
          <a:p>
            <a:pPr marL="0" indent="0">
              <a:buNone/>
            </a:pPr>
            <a:r>
              <a:rPr lang="en-US" dirty="0">
                <a:solidFill>
                  <a:schemeClr val="bg1"/>
                </a:solidFill>
              </a:rPr>
              <a:t>Alternatively, you can:</a:t>
            </a:r>
          </a:p>
          <a:p>
            <a:r>
              <a:rPr lang="en-US" dirty="0">
                <a:solidFill>
                  <a:schemeClr val="bg1"/>
                </a:solidFill>
              </a:rPr>
              <a:t>Open the Chat view.</a:t>
            </a:r>
          </a:p>
          <a:p>
            <a:r>
              <a:rPr lang="en-US" dirty="0">
                <a:solidFill>
                  <a:schemeClr val="bg1"/>
                </a:solidFill>
              </a:rPr>
              <a:t>Enter the </a:t>
            </a:r>
            <a:r>
              <a:rPr lang="en-US" dirty="0">
                <a:solidFill>
                  <a:srgbClr val="FFC000"/>
                </a:solidFill>
              </a:rPr>
              <a:t>/</a:t>
            </a:r>
            <a:r>
              <a:rPr lang="en-US" dirty="0" err="1">
                <a:solidFill>
                  <a:srgbClr val="FFC000"/>
                </a:solidFill>
              </a:rPr>
              <a:t>fixTestFailure</a:t>
            </a:r>
            <a:r>
              <a:rPr lang="en-US" dirty="0">
                <a:solidFill>
                  <a:schemeClr val="bg1"/>
                </a:solidFill>
              </a:rPr>
              <a:t> slash command.</a:t>
            </a:r>
          </a:p>
          <a:p>
            <a:r>
              <a:rPr lang="en-US" dirty="0">
                <a:solidFill>
                  <a:schemeClr val="bg1"/>
                </a:solidFill>
              </a:rPr>
              <a:t>Follow Copilot's suggestions to fix the </a:t>
            </a:r>
            <a:r>
              <a:rPr lang="en-US" dirty="0" smtClean="0">
                <a:solidFill>
                  <a:schemeClr val="bg1"/>
                </a:solidFill>
              </a:rPr>
              <a:t>test</a:t>
            </a:r>
          </a:p>
          <a:p>
            <a:endParaRPr lang="en-US" dirty="0" smtClean="0">
              <a:solidFill>
                <a:schemeClr val="bg1"/>
              </a:solidFill>
            </a:endParaRPr>
          </a:p>
          <a:p>
            <a:pPr marL="0" indent="0">
              <a:buNone/>
            </a:pPr>
            <a:r>
              <a:rPr lang="en-US" dirty="0" smtClean="0">
                <a:solidFill>
                  <a:schemeClr val="accent6">
                    <a:lumMod val="60000"/>
                    <a:lumOff val="40000"/>
                  </a:schemeClr>
                </a:solidFill>
              </a:rPr>
              <a:t>“Agent </a:t>
            </a:r>
            <a:r>
              <a:rPr lang="en-US" dirty="0">
                <a:solidFill>
                  <a:schemeClr val="accent6">
                    <a:lumMod val="60000"/>
                    <a:lumOff val="40000"/>
                  </a:schemeClr>
                </a:solidFill>
              </a:rPr>
              <a:t>mode monitors the test output when running tests, and automatically attempts to fix and rerun failing tests</a:t>
            </a:r>
            <a:r>
              <a:rPr lang="en-US" dirty="0" smtClean="0">
                <a:solidFill>
                  <a:schemeClr val="accent6">
                    <a:lumMod val="60000"/>
                    <a:lumOff val="40000"/>
                  </a:schemeClr>
                </a:solidFill>
              </a:rPr>
              <a:t>.”</a:t>
            </a:r>
            <a:endParaRPr lang="en-US" dirty="0">
              <a:solidFill>
                <a:schemeClr val="accent6">
                  <a:lumMod val="60000"/>
                  <a:lumOff val="40000"/>
                </a:schemeClr>
              </a:solidFill>
            </a:endParaRPr>
          </a:p>
          <a:p>
            <a:endParaRPr lang="en-IN" dirty="0">
              <a:solidFill>
                <a:schemeClr val="bg1"/>
              </a:solidFill>
            </a:endParaRPr>
          </a:p>
        </p:txBody>
      </p:sp>
    </p:spTree>
    <p:extLst>
      <p:ext uri="{BB962C8B-B14F-4D97-AF65-F5344CB8AC3E}">
        <p14:creationId xmlns:p14="http://schemas.microsoft.com/office/powerpoint/2010/main" val="42645353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92896"/>
            <a:ext cx="8229600" cy="1143000"/>
          </a:xfrm>
        </p:spPr>
        <p:txBody>
          <a:bodyPr/>
          <a:lstStyle/>
          <a:p>
            <a:r>
              <a:rPr lang="en-IN" b="1" dirty="0" smtClean="0">
                <a:solidFill>
                  <a:schemeClr val="bg1"/>
                </a:solidFill>
              </a:rPr>
              <a:t>DOCUMENTATION</a:t>
            </a:r>
            <a:endParaRPr lang="en-IN" b="1" dirty="0">
              <a:solidFill>
                <a:schemeClr val="bg1"/>
              </a:solidFill>
            </a:endParaRPr>
          </a:p>
        </p:txBody>
      </p:sp>
    </p:spTree>
    <p:extLst>
      <p:ext uri="{BB962C8B-B14F-4D97-AF65-F5344CB8AC3E}">
        <p14:creationId xmlns:p14="http://schemas.microsoft.com/office/powerpoint/2010/main" val="40870969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Generate inline code documentation using GitHub </a:t>
            </a:r>
            <a:r>
              <a:rPr lang="en-IN" b="1" dirty="0" err="1"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marL="0" indent="0">
              <a:buNone/>
            </a:pPr>
            <a:r>
              <a:rPr lang="en-US" dirty="0">
                <a:solidFill>
                  <a:srgbClr val="FFC000"/>
                </a:solidFill>
              </a:rPr>
              <a:t>Ask mode: </a:t>
            </a:r>
            <a:endParaRPr lang="en-US" dirty="0" smtClean="0">
              <a:solidFill>
                <a:srgbClr val="FFC000"/>
              </a:solidFill>
            </a:endParaRPr>
          </a:p>
          <a:p>
            <a:pPr marL="0" indent="0">
              <a:buNone/>
            </a:pPr>
            <a:r>
              <a:rPr lang="en-US" dirty="0" smtClean="0">
                <a:solidFill>
                  <a:schemeClr val="bg1"/>
                </a:solidFill>
              </a:rPr>
              <a:t>Use </a:t>
            </a:r>
            <a:r>
              <a:rPr lang="en-US" dirty="0">
                <a:solidFill>
                  <a:schemeClr val="bg1"/>
                </a:solidFill>
              </a:rPr>
              <a:t>the ask mode to suggest inline code documentation for a code file, class, or method. Review the suggested inline documentation in the Chat view. </a:t>
            </a:r>
            <a:endParaRPr lang="en-US" dirty="0" smtClean="0">
              <a:solidFill>
                <a:schemeClr val="bg1"/>
              </a:solidFill>
            </a:endParaRPr>
          </a:p>
          <a:p>
            <a:pPr marL="0" indent="0">
              <a:buNone/>
            </a:pPr>
            <a:r>
              <a:rPr lang="en-US" dirty="0" smtClean="0">
                <a:solidFill>
                  <a:schemeClr val="bg1"/>
                </a:solidFill>
              </a:rPr>
              <a:t>Request </a:t>
            </a:r>
            <a:r>
              <a:rPr lang="en-US" dirty="0">
                <a:solidFill>
                  <a:schemeClr val="bg1"/>
                </a:solidFill>
              </a:rPr>
              <a:t>updates as needed in the chat conversation. Once you're satisfied with the proposed documentation, you can insert the suggested documentation into the corresponding code file</a:t>
            </a:r>
            <a:r>
              <a:rPr lang="en-US" dirty="0" smtClean="0">
                <a:solidFill>
                  <a:schemeClr val="bg1"/>
                </a:solidFill>
              </a:rPr>
              <a:t>.</a:t>
            </a:r>
          </a:p>
          <a:p>
            <a:pPr marL="0" indent="0">
              <a:buNone/>
            </a:pPr>
            <a:r>
              <a:rPr lang="en-US" dirty="0">
                <a:solidFill>
                  <a:schemeClr val="bg1"/>
                </a:solidFill>
              </a:rPr>
              <a:t>e.g. </a:t>
            </a:r>
            <a:r>
              <a:rPr lang="en-US" dirty="0" smtClean="0">
                <a:solidFill>
                  <a:srgbClr val="FFC000"/>
                </a:solidFill>
              </a:rPr>
              <a:t>Create </a:t>
            </a:r>
            <a:r>
              <a:rPr lang="en-US" dirty="0">
                <a:solidFill>
                  <a:srgbClr val="FFC000"/>
                </a:solidFill>
              </a:rPr>
              <a:t>inline code documentation for the </a:t>
            </a:r>
            <a:r>
              <a:rPr lang="en-US" dirty="0" err="1">
                <a:solidFill>
                  <a:srgbClr val="FFC000"/>
                </a:solidFill>
              </a:rPr>
              <a:t>ConsoleApp</a:t>
            </a:r>
            <a:r>
              <a:rPr lang="en-US" dirty="0">
                <a:solidFill>
                  <a:srgbClr val="FFC000"/>
                </a:solidFill>
              </a:rPr>
              <a:t> class.</a:t>
            </a:r>
          </a:p>
          <a:p>
            <a:endParaRPr lang="en-IN" dirty="0">
              <a:solidFill>
                <a:schemeClr val="bg1"/>
              </a:solidFill>
            </a:endParaRPr>
          </a:p>
        </p:txBody>
      </p:sp>
    </p:spTree>
    <p:extLst>
      <p:ext uri="{BB962C8B-B14F-4D97-AF65-F5344CB8AC3E}">
        <p14:creationId xmlns:p14="http://schemas.microsoft.com/office/powerpoint/2010/main" val="19253822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Generate inline code documentation using GitHub </a:t>
            </a:r>
            <a:r>
              <a:rPr lang="en-IN" b="1" dirty="0" err="1"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solidFill>
                  <a:srgbClr val="FFC000"/>
                </a:solidFill>
              </a:rPr>
              <a:t>Agent mode</a:t>
            </a:r>
            <a:r>
              <a:rPr lang="en-US" dirty="0">
                <a:solidFill>
                  <a:srgbClr val="FFC000"/>
                </a:solidFill>
              </a:rPr>
              <a:t>: </a:t>
            </a:r>
            <a:endParaRPr lang="en-US" dirty="0" smtClean="0">
              <a:solidFill>
                <a:srgbClr val="FFC000"/>
              </a:solidFill>
            </a:endParaRPr>
          </a:p>
          <a:p>
            <a:pPr marL="0" indent="0">
              <a:buNone/>
            </a:pPr>
            <a:r>
              <a:rPr lang="en-US" dirty="0">
                <a:solidFill>
                  <a:schemeClr val="bg1"/>
                </a:solidFill>
              </a:rPr>
              <a:t>Use the agent mode to autonomously generate inline code documentation for specified code projects, files, classes, or methods. Have the agent perform other tasks during or after the documentation process. Accept or reject the updates when the agent has completed the assigned tasks</a:t>
            </a:r>
            <a:r>
              <a:rPr lang="en-US" dirty="0" smtClean="0">
                <a:solidFill>
                  <a:schemeClr val="bg1"/>
                </a:solidFill>
              </a:rPr>
              <a:t>.</a:t>
            </a:r>
            <a:endParaRPr lang="en-US" dirty="0">
              <a:solidFill>
                <a:schemeClr val="bg1"/>
              </a:solidFill>
            </a:endParaRPr>
          </a:p>
          <a:p>
            <a:pPr marL="0" indent="0">
              <a:buNone/>
            </a:pPr>
            <a:endParaRPr lang="en-US" dirty="0" smtClean="0">
              <a:solidFill>
                <a:schemeClr val="bg1"/>
              </a:solidFill>
            </a:endParaRPr>
          </a:p>
          <a:p>
            <a:pPr marL="0" indent="0">
              <a:buNone/>
            </a:pPr>
            <a:r>
              <a:rPr lang="en-US" dirty="0" smtClean="0">
                <a:solidFill>
                  <a:srgbClr val="FFC000"/>
                </a:solidFill>
              </a:rPr>
              <a:t>e.g. “Create </a:t>
            </a:r>
            <a:r>
              <a:rPr lang="en-US" dirty="0">
                <a:solidFill>
                  <a:srgbClr val="FFC000"/>
                </a:solidFill>
              </a:rPr>
              <a:t>inline code documentation for all C# class files in the specified context. Document the class, properties, and methods. Do not add documentation to JSON, markdown, or other file types. Do not document </a:t>
            </a:r>
            <a:r>
              <a:rPr lang="en-US" dirty="0" err="1">
                <a:solidFill>
                  <a:srgbClr val="FFC000"/>
                </a:solidFill>
              </a:rPr>
              <a:t>UnitTest</a:t>
            </a:r>
            <a:r>
              <a:rPr lang="en-US" dirty="0">
                <a:solidFill>
                  <a:srgbClr val="FFC000"/>
                </a:solidFill>
              </a:rPr>
              <a:t> project files in the Test folder. Ensure that the solution builds without errors after the documentation is added</a:t>
            </a:r>
            <a:r>
              <a:rPr lang="en-US" dirty="0" smtClean="0">
                <a:solidFill>
                  <a:srgbClr val="FFC000"/>
                </a:solidFill>
              </a:rPr>
              <a:t>.”</a:t>
            </a:r>
            <a:endParaRPr lang="en-IN" dirty="0">
              <a:solidFill>
                <a:srgbClr val="FFC000"/>
              </a:solidFill>
            </a:endParaRPr>
          </a:p>
        </p:txBody>
      </p:sp>
    </p:spTree>
    <p:extLst>
      <p:ext uri="{BB962C8B-B14F-4D97-AF65-F5344CB8AC3E}">
        <p14:creationId xmlns:p14="http://schemas.microsoft.com/office/powerpoint/2010/main" val="31868855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00B050"/>
                </a:solidFill>
              </a:rPr>
              <a:t>Generate inline code documentation using GitHub </a:t>
            </a:r>
            <a:r>
              <a:rPr lang="en-IN" b="1" dirty="0" err="1"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85000" lnSpcReduction="10000"/>
          </a:bodyPr>
          <a:lstStyle/>
          <a:p>
            <a:pPr marL="0" indent="0">
              <a:buNone/>
            </a:pPr>
            <a:r>
              <a:rPr lang="en-US" dirty="0" smtClean="0">
                <a:solidFill>
                  <a:srgbClr val="FFC000"/>
                </a:solidFill>
              </a:rPr>
              <a:t>Inline chat mode</a:t>
            </a:r>
            <a:r>
              <a:rPr lang="en-US" dirty="0">
                <a:solidFill>
                  <a:srgbClr val="FFC000"/>
                </a:solidFill>
              </a:rPr>
              <a:t>: </a:t>
            </a:r>
            <a:endParaRPr lang="en-US" dirty="0" smtClean="0">
              <a:solidFill>
                <a:srgbClr val="FFC000"/>
              </a:solidFill>
            </a:endParaRPr>
          </a:p>
          <a:p>
            <a:pPr marL="0" indent="0">
              <a:buNone/>
            </a:pPr>
            <a:r>
              <a:rPr lang="en-US" dirty="0">
                <a:solidFill>
                  <a:schemeClr val="bg1"/>
                </a:solidFill>
              </a:rPr>
              <a:t>Use an inline chat session to work directly in the code editor. The inline chat is useful when you want to document specific code (classes, methods, or code blocks) without leaving the editor. You can provide specific instructions in the </a:t>
            </a:r>
            <a:r>
              <a:rPr lang="en-US" dirty="0" smtClean="0">
                <a:solidFill>
                  <a:schemeClr val="bg1"/>
                </a:solidFill>
              </a:rPr>
              <a:t>prompt. </a:t>
            </a:r>
            <a:r>
              <a:rPr lang="en-US" dirty="0">
                <a:solidFill>
                  <a:schemeClr val="bg1"/>
                </a:solidFill>
              </a:rPr>
              <a:t>Updates are displayed in the code editor and can be accepted or rejected. You can also choose the option to rerun the prompt with or without updates</a:t>
            </a:r>
            <a:r>
              <a:rPr lang="en-US" dirty="0" smtClean="0">
                <a:solidFill>
                  <a:schemeClr val="bg1"/>
                </a:solidFill>
              </a:rPr>
              <a:t>.</a:t>
            </a:r>
          </a:p>
          <a:p>
            <a:pPr marL="0" indent="0">
              <a:buNone/>
            </a:pPr>
            <a:r>
              <a:rPr lang="en-US" dirty="0">
                <a:solidFill>
                  <a:srgbClr val="FFC000"/>
                </a:solidFill>
              </a:rPr>
              <a:t>e.g. </a:t>
            </a:r>
            <a:r>
              <a:rPr lang="en-US" dirty="0" smtClean="0">
                <a:solidFill>
                  <a:srgbClr val="FFC000"/>
                </a:solidFill>
              </a:rPr>
              <a:t>“Document </a:t>
            </a:r>
            <a:r>
              <a:rPr lang="en-US" dirty="0">
                <a:solidFill>
                  <a:srgbClr val="FFC000"/>
                </a:solidFill>
              </a:rPr>
              <a:t>the selected method. List </a:t>
            </a:r>
            <a:r>
              <a:rPr lang="en-US" dirty="0" err="1">
                <a:solidFill>
                  <a:srgbClr val="FFC000"/>
                </a:solidFill>
              </a:rPr>
              <a:t>currentState</a:t>
            </a:r>
            <a:r>
              <a:rPr lang="en-US" dirty="0">
                <a:solidFill>
                  <a:srgbClr val="FFC000"/>
                </a:solidFill>
              </a:rPr>
              <a:t> </a:t>
            </a:r>
            <a:r>
              <a:rPr lang="en-US" dirty="0" smtClean="0">
                <a:solidFill>
                  <a:srgbClr val="FFC000"/>
                </a:solidFill>
              </a:rPr>
              <a:t>options”</a:t>
            </a:r>
            <a:endParaRPr lang="en-IN" dirty="0">
              <a:solidFill>
                <a:srgbClr val="FFC000"/>
              </a:solidFill>
            </a:endParaRPr>
          </a:p>
        </p:txBody>
      </p:sp>
    </p:spTree>
    <p:extLst>
      <p:ext uri="{BB962C8B-B14F-4D97-AF65-F5344CB8AC3E}">
        <p14:creationId xmlns:p14="http://schemas.microsoft.com/office/powerpoint/2010/main" val="25760003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Copilot</a:t>
            </a:r>
            <a:endParaRPr lang="en-IN" dirty="0"/>
          </a:p>
        </p:txBody>
      </p:sp>
      <p:sp>
        <p:nvSpPr>
          <p:cNvPr id="3" name="Content Placeholder 2"/>
          <p:cNvSpPr>
            <a:spLocks noGrp="1"/>
          </p:cNvSpPr>
          <p:nvPr>
            <p:ph idx="1"/>
          </p:nvPr>
        </p:nvSpPr>
        <p:spPr/>
        <p:txBody>
          <a:bodyPr>
            <a:normAutofit fontScale="85000" lnSpcReduction="20000"/>
          </a:bodyPr>
          <a:lstStyle/>
          <a:p>
            <a:r>
              <a:rPr lang="en-US" dirty="0">
                <a:solidFill>
                  <a:schemeClr val="bg1"/>
                </a:solidFill>
              </a:rPr>
              <a:t>Project documentation describes the purpose, goals, and requirements of a project. </a:t>
            </a:r>
            <a:endParaRPr lang="en-US" dirty="0" smtClean="0">
              <a:solidFill>
                <a:schemeClr val="bg1"/>
              </a:solidFill>
            </a:endParaRPr>
          </a:p>
          <a:p>
            <a:r>
              <a:rPr lang="en-US" dirty="0" smtClean="0">
                <a:solidFill>
                  <a:schemeClr val="bg1"/>
                </a:solidFill>
              </a:rPr>
              <a:t>To </a:t>
            </a:r>
            <a:r>
              <a:rPr lang="en-US" dirty="0">
                <a:solidFill>
                  <a:schemeClr val="bg1"/>
                </a:solidFill>
              </a:rPr>
              <a:t>create project documentation, you need to understand the project structure, its components, and how the components interact with each other</a:t>
            </a:r>
            <a:r>
              <a:rPr lang="en-US" dirty="0" smtClean="0">
                <a:solidFill>
                  <a:schemeClr val="bg1"/>
                </a:solidFill>
              </a:rPr>
              <a:t>.</a:t>
            </a:r>
          </a:p>
          <a:p>
            <a:r>
              <a:rPr lang="en-US" dirty="0" smtClean="0">
                <a:solidFill>
                  <a:schemeClr val="bg1"/>
                </a:solidFill>
              </a:rPr>
              <a:t>Chat </a:t>
            </a:r>
            <a:r>
              <a:rPr lang="en-US" dirty="0">
                <a:solidFill>
                  <a:schemeClr val="bg1"/>
                </a:solidFill>
              </a:rPr>
              <a:t>view is an ideal tool for generating project documentation, because it can analyze the entire project structure and provide high-level overviews of the project. </a:t>
            </a:r>
            <a:endParaRPr lang="en-US" dirty="0" smtClean="0">
              <a:solidFill>
                <a:schemeClr val="bg1"/>
              </a:solidFill>
            </a:endParaRPr>
          </a:p>
          <a:p>
            <a:r>
              <a:rPr lang="en-US" dirty="0" smtClean="0">
                <a:solidFill>
                  <a:schemeClr val="bg1"/>
                </a:solidFill>
              </a:rPr>
              <a:t>The </a:t>
            </a:r>
            <a:r>
              <a:rPr lang="en-US" dirty="0">
                <a:solidFill>
                  <a:schemeClr val="bg1"/>
                </a:solidFill>
              </a:rPr>
              <a:t>Chat view can also be used to generate specific types of documentation, such as README files, API references, and other project-related documents.</a:t>
            </a:r>
            <a:endParaRPr lang="en-IN" dirty="0">
              <a:solidFill>
                <a:schemeClr val="bg1"/>
              </a:solidFill>
            </a:endParaRPr>
          </a:p>
        </p:txBody>
      </p:sp>
    </p:spTree>
    <p:extLst>
      <p:ext uri="{BB962C8B-B14F-4D97-AF65-F5344CB8AC3E}">
        <p14:creationId xmlns:p14="http://schemas.microsoft.com/office/powerpoint/2010/main" val="293853509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solidFill>
                  <a:srgbClr val="00B050"/>
                </a:solidFill>
              </a:rPr>
              <a:t>For example, the README.md could include the following sections</a:t>
            </a:r>
            <a:r>
              <a:rPr lang="en-US" sz="4000" dirty="0" smtClean="0">
                <a:solidFill>
                  <a:srgbClr val="00B050"/>
                </a:solidFill>
              </a:rPr>
              <a:t>:</a:t>
            </a:r>
            <a:endParaRPr lang="en-IN" dirty="0"/>
          </a:p>
        </p:txBody>
      </p:sp>
      <p:sp>
        <p:nvSpPr>
          <p:cNvPr id="3" name="Content Placeholder 2"/>
          <p:cNvSpPr>
            <a:spLocks noGrp="1"/>
          </p:cNvSpPr>
          <p:nvPr>
            <p:ph idx="1"/>
          </p:nvPr>
        </p:nvSpPr>
        <p:spPr>
          <a:xfrm>
            <a:off x="457200" y="1600200"/>
            <a:ext cx="8229600" cy="5069160"/>
          </a:xfrm>
        </p:spPr>
        <p:txBody>
          <a:bodyPr>
            <a:normAutofit fontScale="70000" lnSpcReduction="20000"/>
          </a:bodyPr>
          <a:lstStyle/>
          <a:p>
            <a:r>
              <a:rPr lang="en-US" dirty="0" smtClean="0">
                <a:solidFill>
                  <a:srgbClr val="FFC000"/>
                </a:solidFill>
              </a:rPr>
              <a:t>Project </a:t>
            </a:r>
            <a:r>
              <a:rPr lang="en-US" dirty="0">
                <a:solidFill>
                  <a:srgbClr val="FFC000"/>
                </a:solidFill>
              </a:rPr>
              <a:t>Title: </a:t>
            </a:r>
            <a:r>
              <a:rPr lang="en-US" dirty="0">
                <a:solidFill>
                  <a:schemeClr val="bg1"/>
                </a:solidFill>
              </a:rPr>
              <a:t>The name of your project.</a:t>
            </a:r>
          </a:p>
          <a:p>
            <a:r>
              <a:rPr lang="en-US" dirty="0">
                <a:solidFill>
                  <a:srgbClr val="FFC000"/>
                </a:solidFill>
              </a:rPr>
              <a:t>Description</a:t>
            </a:r>
            <a:r>
              <a:rPr lang="en-US" dirty="0">
                <a:solidFill>
                  <a:schemeClr val="bg1"/>
                </a:solidFill>
              </a:rPr>
              <a:t>: A brief overview of what the project does and why it exists.</a:t>
            </a:r>
          </a:p>
          <a:p>
            <a:r>
              <a:rPr lang="en-US" dirty="0">
                <a:solidFill>
                  <a:srgbClr val="FFC000"/>
                </a:solidFill>
              </a:rPr>
              <a:t>Table of Contents</a:t>
            </a:r>
            <a:r>
              <a:rPr lang="en-US" dirty="0">
                <a:solidFill>
                  <a:schemeClr val="bg1"/>
                </a:solidFill>
              </a:rPr>
              <a:t>: Optional, but helpful for longer READMEs.</a:t>
            </a:r>
          </a:p>
          <a:p>
            <a:r>
              <a:rPr lang="en-US" dirty="0">
                <a:solidFill>
                  <a:srgbClr val="FFC000"/>
                </a:solidFill>
              </a:rPr>
              <a:t>Installation</a:t>
            </a:r>
            <a:r>
              <a:rPr lang="en-US" dirty="0">
                <a:solidFill>
                  <a:schemeClr val="bg1"/>
                </a:solidFill>
              </a:rPr>
              <a:t>: Instructions on how to install and set up the project.</a:t>
            </a:r>
          </a:p>
          <a:p>
            <a:r>
              <a:rPr lang="en-US" dirty="0">
                <a:solidFill>
                  <a:srgbClr val="FFC000"/>
                </a:solidFill>
              </a:rPr>
              <a:t>Usage</a:t>
            </a:r>
            <a:r>
              <a:rPr lang="en-US" dirty="0">
                <a:solidFill>
                  <a:schemeClr val="bg1"/>
                </a:solidFill>
              </a:rPr>
              <a:t>: Examples of how to use the project, including code snippets or screenshots.</a:t>
            </a:r>
          </a:p>
          <a:p>
            <a:r>
              <a:rPr lang="en-US" dirty="0">
                <a:solidFill>
                  <a:srgbClr val="FFC000"/>
                </a:solidFill>
              </a:rPr>
              <a:t>Features</a:t>
            </a:r>
            <a:r>
              <a:rPr lang="en-US" dirty="0">
                <a:solidFill>
                  <a:schemeClr val="bg1"/>
                </a:solidFill>
              </a:rPr>
              <a:t>: A list of key features or functionality.</a:t>
            </a:r>
          </a:p>
          <a:p>
            <a:r>
              <a:rPr lang="en-US" dirty="0">
                <a:solidFill>
                  <a:srgbClr val="FFC000"/>
                </a:solidFill>
              </a:rPr>
              <a:t>Configuration</a:t>
            </a:r>
            <a:r>
              <a:rPr lang="en-US" dirty="0">
                <a:solidFill>
                  <a:schemeClr val="bg1"/>
                </a:solidFill>
              </a:rPr>
              <a:t>: Details on any configuration options or environment variables.</a:t>
            </a:r>
          </a:p>
          <a:p>
            <a:r>
              <a:rPr lang="en-US" dirty="0" smtClean="0">
                <a:solidFill>
                  <a:srgbClr val="FFC000"/>
                </a:solidFill>
              </a:rPr>
              <a:t>License</a:t>
            </a:r>
            <a:r>
              <a:rPr lang="en-US" dirty="0">
                <a:solidFill>
                  <a:schemeClr val="bg1"/>
                </a:solidFill>
              </a:rPr>
              <a:t>: Any licenses used by the distributed project.</a:t>
            </a:r>
          </a:p>
          <a:p>
            <a:r>
              <a:rPr lang="en-US" dirty="0">
                <a:solidFill>
                  <a:srgbClr val="FFC000"/>
                </a:solidFill>
              </a:rPr>
              <a:t>Credits and acknowledgments</a:t>
            </a:r>
            <a:r>
              <a:rPr lang="en-US" dirty="0">
                <a:solidFill>
                  <a:schemeClr val="bg1"/>
                </a:solidFill>
              </a:rPr>
              <a:t>: Recognition of contributors, libraries, or resources used.</a:t>
            </a:r>
          </a:p>
          <a:p>
            <a:r>
              <a:rPr lang="en-US" dirty="0">
                <a:solidFill>
                  <a:srgbClr val="FFC000"/>
                </a:solidFill>
              </a:rPr>
              <a:t>Contact</a:t>
            </a:r>
            <a:r>
              <a:rPr lang="en-US" dirty="0">
                <a:solidFill>
                  <a:schemeClr val="bg1"/>
                </a:solidFill>
              </a:rPr>
              <a:t>: How to reach the maintainers or project team.</a:t>
            </a:r>
          </a:p>
          <a:p>
            <a:r>
              <a:rPr lang="en-US" dirty="0">
                <a:solidFill>
                  <a:srgbClr val="FFC000"/>
                </a:solidFill>
              </a:rPr>
              <a:t>Changelog</a:t>
            </a:r>
            <a:r>
              <a:rPr lang="en-US" dirty="0">
                <a:solidFill>
                  <a:schemeClr val="bg1"/>
                </a:solidFill>
              </a:rPr>
              <a:t>: A history of changes and updates (sometimes linked to a separate file</a:t>
            </a:r>
            <a:r>
              <a:rPr lang="en-US" dirty="0" smtClean="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39683379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a:solidFill>
                  <a:srgbClr val="FFC000"/>
                </a:solidFill>
              </a:rPr>
              <a:t>Chat view in ask mode: </a:t>
            </a:r>
            <a:endParaRPr lang="en-US" dirty="0" smtClean="0">
              <a:solidFill>
                <a:srgbClr val="FFC000"/>
              </a:solidFill>
            </a:endParaRPr>
          </a:p>
          <a:p>
            <a:pPr marL="0" indent="0">
              <a:buNone/>
            </a:pPr>
            <a:r>
              <a:rPr lang="en-US" dirty="0" smtClean="0">
                <a:solidFill>
                  <a:schemeClr val="bg1"/>
                </a:solidFill>
              </a:rPr>
              <a:t>Use </a:t>
            </a:r>
            <a:r>
              <a:rPr lang="en-US" dirty="0">
                <a:solidFill>
                  <a:schemeClr val="bg1"/>
                </a:solidFill>
              </a:rPr>
              <a:t>the ask mode to analyze the codebase and gain an understanding of the code projects, files, and classes. </a:t>
            </a:r>
            <a:endParaRPr lang="en-US" dirty="0" smtClean="0">
              <a:solidFill>
                <a:schemeClr val="bg1"/>
              </a:solidFill>
            </a:endParaRPr>
          </a:p>
          <a:p>
            <a:pPr marL="0" indent="0">
              <a:buNone/>
            </a:pPr>
            <a:r>
              <a:rPr lang="en-US" dirty="0" smtClean="0">
                <a:solidFill>
                  <a:schemeClr val="bg1"/>
                </a:solidFill>
              </a:rPr>
              <a:t>Use </a:t>
            </a:r>
            <a:r>
              <a:rPr lang="en-US" dirty="0">
                <a:solidFill>
                  <a:schemeClr val="bg1"/>
                </a:solidFill>
              </a:rPr>
              <a:t>ask mode to preview suggested project documentation. </a:t>
            </a:r>
            <a:endParaRPr lang="en-US" dirty="0" smtClean="0">
              <a:solidFill>
                <a:schemeClr val="bg1"/>
              </a:solidFill>
            </a:endParaRPr>
          </a:p>
          <a:p>
            <a:pPr marL="0" indent="0">
              <a:buNone/>
            </a:pPr>
            <a:r>
              <a:rPr lang="en-US" dirty="0" smtClean="0">
                <a:solidFill>
                  <a:schemeClr val="bg1"/>
                </a:solidFill>
              </a:rPr>
              <a:t>Review </a:t>
            </a:r>
            <a:r>
              <a:rPr lang="en-US" dirty="0">
                <a:solidFill>
                  <a:schemeClr val="bg1"/>
                </a:solidFill>
              </a:rPr>
              <a:t>suggestions and request updates or other details as needed. </a:t>
            </a:r>
            <a:endParaRPr lang="en-US" dirty="0" smtClean="0">
              <a:solidFill>
                <a:schemeClr val="bg1"/>
              </a:solidFill>
            </a:endParaRPr>
          </a:p>
          <a:p>
            <a:pPr marL="0" indent="0">
              <a:buNone/>
            </a:pPr>
            <a:r>
              <a:rPr lang="en-US" dirty="0" smtClean="0">
                <a:solidFill>
                  <a:schemeClr val="bg1"/>
                </a:solidFill>
              </a:rPr>
              <a:t>Insert </a:t>
            </a:r>
            <a:r>
              <a:rPr lang="en-US" dirty="0">
                <a:solidFill>
                  <a:schemeClr val="bg1"/>
                </a:solidFill>
              </a:rPr>
              <a:t>the suggested documentation into a project documentation file (README.md).</a:t>
            </a:r>
          </a:p>
          <a:p>
            <a:endParaRPr lang="en-IN" dirty="0">
              <a:solidFill>
                <a:schemeClr val="bg1"/>
              </a:solidFill>
            </a:endParaRPr>
          </a:p>
        </p:txBody>
      </p:sp>
    </p:spTree>
    <p:extLst>
      <p:ext uri="{BB962C8B-B14F-4D97-AF65-F5344CB8AC3E}">
        <p14:creationId xmlns:p14="http://schemas.microsoft.com/office/powerpoint/2010/main" val="14698002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Ask mode  example</a:t>
            </a:r>
            <a:endParaRPr lang="en-IN" dirty="0">
              <a:solidFill>
                <a:srgbClr val="00B050"/>
              </a:solidFill>
            </a:endParaRPr>
          </a:p>
        </p:txBody>
      </p:sp>
      <p:sp>
        <p:nvSpPr>
          <p:cNvPr id="3" name="Content Placeholder 2"/>
          <p:cNvSpPr>
            <a:spLocks noGrp="1"/>
          </p:cNvSpPr>
          <p:nvPr>
            <p:ph idx="1"/>
          </p:nvPr>
        </p:nvSpPr>
        <p:spPr/>
        <p:txBody>
          <a:bodyPr/>
          <a:lstStyle/>
          <a:p>
            <a:r>
              <a:rPr lang="en-US" dirty="0" smtClean="0">
                <a:solidFill>
                  <a:srgbClr val="FFC000"/>
                </a:solidFill>
              </a:rPr>
              <a:t>“/</a:t>
            </a:r>
            <a:r>
              <a:rPr lang="en-US" dirty="0">
                <a:solidFill>
                  <a:srgbClr val="FFC000"/>
                </a:solidFill>
              </a:rPr>
              <a:t>explain </a:t>
            </a:r>
            <a:r>
              <a:rPr lang="en-US" dirty="0">
                <a:solidFill>
                  <a:schemeClr val="bg1"/>
                </a:solidFill>
              </a:rPr>
              <a:t>I need help creating a README file that can be used in the GitHub repository for this workspace. The file should be formatted as markdown. The README file needs to include the following sections: Project Title, Description, Table of Contents, Installation, Usage, Features, Configuration, and License."</a:t>
            </a:r>
            <a:endParaRPr lang="en-IN" dirty="0">
              <a:solidFill>
                <a:schemeClr val="bg1"/>
              </a:solidFill>
            </a:endParaRPr>
          </a:p>
        </p:txBody>
      </p:sp>
    </p:spTree>
    <p:extLst>
      <p:ext uri="{BB962C8B-B14F-4D97-AF65-F5344CB8AC3E}">
        <p14:creationId xmlns:p14="http://schemas.microsoft.com/office/powerpoint/2010/main" val="10002607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normAutofit lnSpcReduction="10000"/>
          </a:bodyPr>
          <a:lstStyle/>
          <a:p>
            <a:pPr marL="0" indent="0">
              <a:buNone/>
            </a:pPr>
            <a:r>
              <a:rPr lang="en-US" dirty="0">
                <a:solidFill>
                  <a:srgbClr val="FFC000"/>
                </a:solidFill>
              </a:rPr>
              <a:t>Chat view in </a:t>
            </a:r>
            <a:r>
              <a:rPr lang="en-US" dirty="0" smtClean="0">
                <a:solidFill>
                  <a:srgbClr val="FFC000"/>
                </a:solidFill>
              </a:rPr>
              <a:t>Agent </a:t>
            </a:r>
            <a:r>
              <a:rPr lang="en-US" dirty="0">
                <a:solidFill>
                  <a:srgbClr val="FFC000"/>
                </a:solidFill>
              </a:rPr>
              <a:t>mode: </a:t>
            </a:r>
            <a:endParaRPr lang="en-US" dirty="0" smtClean="0">
              <a:solidFill>
                <a:srgbClr val="FFC000"/>
              </a:solidFill>
            </a:endParaRPr>
          </a:p>
          <a:p>
            <a:r>
              <a:rPr lang="en-IN" dirty="0" smtClean="0">
                <a:solidFill>
                  <a:schemeClr val="bg1"/>
                </a:solidFill>
              </a:rPr>
              <a:t>Generate </a:t>
            </a:r>
            <a:r>
              <a:rPr lang="en-IN" dirty="0">
                <a:solidFill>
                  <a:schemeClr val="bg1"/>
                </a:solidFill>
              </a:rPr>
              <a:t>a project documentation file (README.md</a:t>
            </a:r>
            <a:r>
              <a:rPr lang="en-IN" dirty="0" smtClean="0">
                <a:solidFill>
                  <a:schemeClr val="bg1"/>
                </a:solidFill>
              </a:rPr>
              <a:t>).</a:t>
            </a:r>
          </a:p>
          <a:p>
            <a:r>
              <a:rPr lang="en-US" dirty="0" smtClean="0">
                <a:solidFill>
                  <a:schemeClr val="bg1"/>
                </a:solidFill>
              </a:rPr>
              <a:t>Agent </a:t>
            </a:r>
            <a:r>
              <a:rPr lang="en-US" dirty="0">
                <a:solidFill>
                  <a:schemeClr val="bg1"/>
                </a:solidFill>
              </a:rPr>
              <a:t>mode is best for making changes to specific files in the project. </a:t>
            </a:r>
            <a:endParaRPr lang="en-US" dirty="0" smtClean="0">
              <a:solidFill>
                <a:schemeClr val="bg1"/>
              </a:solidFill>
            </a:endParaRPr>
          </a:p>
          <a:p>
            <a:r>
              <a:rPr lang="en-US" dirty="0" smtClean="0">
                <a:solidFill>
                  <a:schemeClr val="bg1"/>
                </a:solidFill>
              </a:rPr>
              <a:t>The Agent </a:t>
            </a:r>
            <a:r>
              <a:rPr lang="en-US" dirty="0">
                <a:solidFill>
                  <a:schemeClr val="bg1"/>
                </a:solidFill>
              </a:rPr>
              <a:t>mode can be used to generate project documentation by adding context files to the chat and then creating or updating documentation files.</a:t>
            </a:r>
            <a:endParaRPr lang="en-IN" dirty="0">
              <a:solidFill>
                <a:schemeClr val="bg1"/>
              </a:solidFill>
            </a:endParaRPr>
          </a:p>
        </p:txBody>
      </p:sp>
    </p:spTree>
    <p:extLst>
      <p:ext uri="{BB962C8B-B14F-4D97-AF65-F5344CB8AC3E}">
        <p14:creationId xmlns:p14="http://schemas.microsoft.com/office/powerpoint/2010/main" val="28349715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Agent mode  </a:t>
            </a:r>
            <a:r>
              <a:rPr lang="en-IN" dirty="0">
                <a:solidFill>
                  <a:srgbClr val="00B050"/>
                </a:solidFill>
              </a:rPr>
              <a:t>example</a:t>
            </a:r>
            <a:endParaRPr lang="en-IN" dirty="0"/>
          </a:p>
        </p:txBody>
      </p:sp>
      <p:sp>
        <p:nvSpPr>
          <p:cNvPr id="3" name="Content Placeholder 2"/>
          <p:cNvSpPr>
            <a:spLocks noGrp="1"/>
          </p:cNvSpPr>
          <p:nvPr>
            <p:ph idx="1"/>
          </p:nvPr>
        </p:nvSpPr>
        <p:spPr/>
        <p:txBody>
          <a:bodyPr/>
          <a:lstStyle/>
          <a:p>
            <a:r>
              <a:rPr lang="en-US" dirty="0" smtClean="0">
                <a:solidFill>
                  <a:schemeClr val="bg1"/>
                </a:solidFill>
              </a:rPr>
              <a:t>"I </a:t>
            </a:r>
            <a:r>
              <a:rPr lang="en-US" dirty="0">
                <a:solidFill>
                  <a:schemeClr val="bg1"/>
                </a:solidFill>
              </a:rPr>
              <a:t>need to create a README file that can be used for the GitHub repository. The file should be formatted as markdown. Create a README.md file in the root workspace folder. The README file needs to include the following sections: Project Title, Description, Table of Contents, Installation, Usage, Features, Configuration, and License."</a:t>
            </a:r>
            <a:endParaRPr lang="en-IN" dirty="0">
              <a:solidFill>
                <a:schemeClr val="bg1"/>
              </a:solidFill>
            </a:endParaRPr>
          </a:p>
        </p:txBody>
      </p:sp>
    </p:spTree>
    <p:extLst>
      <p:ext uri="{BB962C8B-B14F-4D97-AF65-F5344CB8AC3E}">
        <p14:creationId xmlns:p14="http://schemas.microsoft.com/office/powerpoint/2010/main" val="41409956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B050"/>
                </a:solidFill>
              </a:rPr>
              <a:t>Generate project documentation using GitHub </a:t>
            </a:r>
            <a:r>
              <a:rPr lang="en-US" b="1" dirty="0" smtClean="0">
                <a:solidFill>
                  <a:srgbClr val="00B050"/>
                </a:solidFill>
              </a:rPr>
              <a:t>Copilot</a:t>
            </a:r>
            <a:endParaRPr lang="en-IN" dirty="0">
              <a:solidFill>
                <a:srgbClr val="00B050"/>
              </a:solidFill>
            </a:endParaRPr>
          </a:p>
        </p:txBody>
      </p:sp>
      <p:sp>
        <p:nvSpPr>
          <p:cNvPr id="3" name="Content Placeholder 2"/>
          <p:cNvSpPr>
            <a:spLocks noGrp="1"/>
          </p:cNvSpPr>
          <p:nvPr>
            <p:ph idx="1"/>
          </p:nvPr>
        </p:nvSpPr>
        <p:spPr/>
        <p:txBody>
          <a:bodyPr/>
          <a:lstStyle/>
          <a:p>
            <a:pPr marL="0" indent="0">
              <a:buNone/>
            </a:pPr>
            <a:r>
              <a:rPr lang="en-US" dirty="0">
                <a:solidFill>
                  <a:srgbClr val="FFC000"/>
                </a:solidFill>
              </a:rPr>
              <a:t>Chat view in </a:t>
            </a:r>
            <a:r>
              <a:rPr lang="en-US" dirty="0" smtClean="0">
                <a:solidFill>
                  <a:srgbClr val="FFC000"/>
                </a:solidFill>
              </a:rPr>
              <a:t>agent </a:t>
            </a:r>
            <a:r>
              <a:rPr lang="en-US" dirty="0">
                <a:solidFill>
                  <a:srgbClr val="FFC000"/>
                </a:solidFill>
              </a:rPr>
              <a:t>mode: </a:t>
            </a:r>
            <a:r>
              <a:rPr lang="en-US" dirty="0">
                <a:solidFill>
                  <a:schemeClr val="bg1"/>
                </a:solidFill>
              </a:rPr>
              <a:t>Generate a collection of project documentation files: create/update the README.md, create/update the UsageExamples.md, and create/update the ChangeLog.md. </a:t>
            </a:r>
            <a:endParaRPr lang="en-US" dirty="0" smtClean="0">
              <a:solidFill>
                <a:schemeClr val="bg1"/>
              </a:solidFill>
            </a:endParaRPr>
          </a:p>
          <a:p>
            <a:pPr marL="0" indent="0">
              <a:buNone/>
            </a:pPr>
            <a:r>
              <a:rPr lang="en-US" dirty="0" smtClean="0">
                <a:solidFill>
                  <a:schemeClr val="bg1"/>
                </a:solidFill>
              </a:rPr>
              <a:t>Include </a:t>
            </a:r>
            <a:r>
              <a:rPr lang="en-US" dirty="0">
                <a:solidFill>
                  <a:schemeClr val="bg1"/>
                </a:solidFill>
              </a:rPr>
              <a:t>links between the documentation files, cross-reference classes and methods, and ensure consistency across docs.</a:t>
            </a:r>
            <a:endParaRPr lang="en-IN" dirty="0">
              <a:solidFill>
                <a:schemeClr val="bg1"/>
              </a:solidFill>
            </a:endParaRPr>
          </a:p>
        </p:txBody>
      </p:sp>
    </p:spTree>
    <p:extLst>
      <p:ext uri="{BB962C8B-B14F-4D97-AF65-F5344CB8AC3E}">
        <p14:creationId xmlns:p14="http://schemas.microsoft.com/office/powerpoint/2010/main" val="3942012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00B050"/>
                </a:solidFill>
              </a:rPr>
              <a:t>Agent mode  </a:t>
            </a:r>
            <a:r>
              <a:rPr lang="en-IN" dirty="0">
                <a:solidFill>
                  <a:srgbClr val="00B050"/>
                </a:solidFill>
              </a:rPr>
              <a:t>example</a:t>
            </a:r>
            <a:endParaRPr lang="en-IN" dirty="0"/>
          </a:p>
        </p:txBody>
      </p:sp>
      <p:sp>
        <p:nvSpPr>
          <p:cNvPr id="3" name="Content Placeholder 2"/>
          <p:cNvSpPr>
            <a:spLocks noGrp="1"/>
          </p:cNvSpPr>
          <p:nvPr>
            <p:ph idx="1"/>
          </p:nvPr>
        </p:nvSpPr>
        <p:spPr/>
        <p:txBody>
          <a:bodyPr/>
          <a:lstStyle/>
          <a:p>
            <a:r>
              <a:rPr lang="en-US" dirty="0">
                <a:solidFill>
                  <a:schemeClr val="bg1"/>
                </a:solidFill>
              </a:rPr>
              <a:t>"Generate a collection of project documentation files. Create or update the workspace README.md file for this repository. Create or update the UsageExamples.md file. Create or update the ChangeLog.md file. Include links between the documentation files, cross-reference classes and methods, and ensure consistency across the documents."</a:t>
            </a:r>
            <a:endParaRPr lang="en-IN" dirty="0">
              <a:solidFill>
                <a:schemeClr val="bg1"/>
              </a:solidFill>
            </a:endParaRPr>
          </a:p>
        </p:txBody>
      </p:sp>
    </p:spTree>
    <p:extLst>
      <p:ext uri="{BB962C8B-B14F-4D97-AF65-F5344CB8AC3E}">
        <p14:creationId xmlns:p14="http://schemas.microsoft.com/office/powerpoint/2010/main" val="20414434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2926</TotalTime>
  <Words>1702</Words>
  <Application>Microsoft Office PowerPoint</Application>
  <PresentationFormat>On-screen Show (4:3)</PresentationFormat>
  <Paragraphs>152</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Generate code using GitHub Copilot Chat</vt:lpstr>
      <vt:lpstr>How to improve GitHub Copilot Chat responses</vt:lpstr>
      <vt:lpstr>Generate code using the Chat view</vt:lpstr>
      <vt:lpstr>Ask mode</vt:lpstr>
      <vt:lpstr>Plan mode</vt:lpstr>
      <vt:lpstr>Copilot Agents</vt:lpstr>
      <vt:lpstr>Agent mode</vt:lpstr>
      <vt:lpstr>Inline chat</vt:lpstr>
      <vt:lpstr>REFACTORING</vt:lpstr>
      <vt:lpstr>Common code refactoring scenarios</vt:lpstr>
      <vt:lpstr>Use GitHub Copilot to optimize inefficient code</vt:lpstr>
      <vt:lpstr>TESTING</vt:lpstr>
      <vt:lpstr>GitHub Copilot support for unit testing</vt:lpstr>
      <vt:lpstr>GitHub Copilot support for unit testing</vt:lpstr>
      <vt:lpstr>Set up your testing framework</vt:lpstr>
      <vt:lpstr>Write unit tests with GitHub Copilot</vt:lpstr>
      <vt:lpstr>Fix failing tests</vt:lpstr>
      <vt:lpstr>DOCUMENTATION</vt:lpstr>
      <vt:lpstr>Generate inline code documentation using GitHub Copilot</vt:lpstr>
      <vt:lpstr>Generate inline code documentation using GitHub Copilot</vt:lpstr>
      <vt:lpstr>Generate inline code documentation using GitHub Copilot</vt:lpstr>
      <vt:lpstr>Generate project documentation using GitHub Copilot</vt:lpstr>
      <vt:lpstr>For example, the README.md could include the following sections:</vt:lpstr>
      <vt:lpstr>Generate project documentation using GitHub Copilot</vt:lpstr>
      <vt:lpstr>Ask mode  example</vt:lpstr>
      <vt:lpstr>Generate project documentation using GitHub Copilot</vt:lpstr>
      <vt:lpstr>Agent mode  example</vt:lpstr>
      <vt:lpstr>Generate project documentation using GitHub Copilot</vt:lpstr>
      <vt:lpstr>Agent mode  example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Ramnath Nishad</dc:creator>
  <cp:lastModifiedBy>Ramnath Nishad</cp:lastModifiedBy>
  <cp:revision>81</cp:revision>
  <dcterms:created xsi:type="dcterms:W3CDTF">2025-07-05T03:07:48Z</dcterms:created>
  <dcterms:modified xsi:type="dcterms:W3CDTF">2026-05-18T18:24:19Z</dcterms:modified>
</cp:coreProperties>
</file>